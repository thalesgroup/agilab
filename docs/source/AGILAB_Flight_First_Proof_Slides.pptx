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731520"/>
            <a:ext cx="2560320" cy="2560320"/>
          </a:xfrm>
          <a:prstGeom prst="ellipse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5120640"/>
            <a:ext cx="2103120" cy="2103120"/>
          </a:xfrm>
          <a:prstGeom prst="ellipse">
            <a:avLst/>
          </a:prstGeom>
          <a:solidFill>
            <a:srgbClr val="1C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4114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4B9D6"/>
                </a:solidFill>
                <a:latin typeface="Aptos"/>
              </a:rPr>
              <a:t>NEWCOMER-SAFE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4F0EB"/>
                </a:solidFill>
                <a:latin typeface="Aptos Display"/>
              </a:rPr>
              <a:t>AGILAB First Proof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ABB7C4"/>
                </a:solidFill>
                <a:latin typeface="Aptos"/>
              </a:rPr>
              <a:t>Slideshow companion for the newcomer-safe `flight_project` 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313432"/>
            <a:ext cx="1691640" cy="146304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691640" cy="146304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78408" y="2404872"/>
            <a:ext cx="438912" cy="310896"/>
          </a:xfrm>
          <a:prstGeom prst="roundRect">
            <a:avLst/>
          </a:prstGeom>
          <a:solidFill>
            <a:srgbClr val="54B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70632"/>
            <a:ext cx="128930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9212A"/>
                </a:solidFill>
                <a:latin typeface="Aptos Display"/>
              </a:rPr>
              <a:t>One app</a:t>
            </a:r>
          </a:p>
          <a:p>
            <a:r>
              <a:rPr sz="1100" b="0">
                <a:solidFill>
                  <a:srgbClr val="57606D"/>
                </a:solidFill>
                <a:latin typeface="Aptos"/>
              </a:rPr>
              <a:t>Stay on `flight_project` and keep the first story narrow.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4056" y="2313432"/>
            <a:ext cx="1691640" cy="146304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70048" y="2240280"/>
            <a:ext cx="1691640" cy="146304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71216" y="2404872"/>
            <a:ext cx="438912" cy="310896"/>
          </a:xfrm>
          <a:prstGeom prst="roundRect">
            <a:avLst/>
          </a:prstGeom>
          <a:solidFill>
            <a:srgbClr val="54B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2770632"/>
            <a:ext cx="128930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9212A"/>
                </a:solidFill>
                <a:latin typeface="Aptos Display"/>
              </a:rPr>
              <a:t>One path</a:t>
            </a:r>
          </a:p>
          <a:p>
            <a:r>
              <a:rPr sz="1100" b="0">
                <a:solidFill>
                  <a:srgbClr val="57606D"/>
                </a:solidFill>
                <a:latin typeface="Aptos"/>
              </a:rPr>
              <a:t>Use PROJECT, then ORCHESTRATE, without side-shell glue.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26864" y="2313432"/>
            <a:ext cx="1691640" cy="146304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62856" y="2240280"/>
            <a:ext cx="1691640" cy="146304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64024" y="2404872"/>
            <a:ext cx="438912" cy="310896"/>
          </a:xfrm>
          <a:prstGeom prst="roundRect">
            <a:avLst/>
          </a:prstGeom>
          <a:solidFill>
            <a:srgbClr val="54B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4" y="2770632"/>
            <a:ext cx="128930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9212A"/>
                </a:solidFill>
                <a:latin typeface="Aptos Display"/>
              </a:rPr>
              <a:t>One result</a:t>
            </a:r>
          </a:p>
          <a:p>
            <a:r>
              <a:rPr sz="1100" b="0">
                <a:solidFill>
                  <a:srgbClr val="57606D"/>
                </a:solidFill>
                <a:latin typeface="Aptos"/>
              </a:rPr>
              <a:t>End on visible evidence in ANALYSIS rather than raw logs.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069080"/>
            <a:ext cx="5440680" cy="786384"/>
          </a:xfrm>
          <a:prstGeom prst="roundRect">
            <a:avLst/>
          </a:prstGeom>
          <a:solidFill>
            <a:srgbClr val="1C2D3D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233672"/>
            <a:ext cx="5001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F4F0EB"/>
                </a:solidFill>
                <a:latin typeface="Aptos"/>
              </a:rPr>
              <a:t>Goal: prove the safest AGILAB path once before branching into notebooks, clusters, or packaged installs.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67728" y="1078992"/>
            <a:ext cx="4572000" cy="242316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3720" y="1005840"/>
            <a:ext cx="4572000" cy="242316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1115568"/>
            <a:ext cx="4352544" cy="2203704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7086600" y="859536"/>
            <a:ext cx="1097280" cy="310896"/>
          </a:xfrm>
          <a:prstGeom prst="roundRect">
            <a:avLst/>
          </a:prstGeom>
          <a:solidFill>
            <a:srgbClr val="E8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3044952"/>
            <a:ext cx="4242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4F0EB"/>
                </a:solidFill>
                <a:latin typeface="Aptos"/>
              </a:rPr>
              <a:t>Select the built-in app and keep its context visible.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1968" y="2724912"/>
            <a:ext cx="4480560" cy="242316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37960" y="2651760"/>
            <a:ext cx="4480560" cy="242316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2761488"/>
            <a:ext cx="4261104" cy="220370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720840" y="2505456"/>
            <a:ext cx="1143000" cy="310896"/>
          </a:xfrm>
          <a:prstGeom prst="roundRect">
            <a:avLst/>
          </a:prstGeom>
          <a:solidFill>
            <a:srgbClr val="54B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ORCHESTRATE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2552" y="4690872"/>
            <a:ext cx="41513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4F0EB"/>
                </a:solidFill>
                <a:latin typeface="Aptos"/>
              </a:rPr>
              <a:t>Run the local proof through one controlled path.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16368" y="3959352"/>
            <a:ext cx="3840480" cy="196596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52360" y="3886200"/>
            <a:ext cx="3840480" cy="196596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3995928"/>
            <a:ext cx="3621024" cy="1746504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7635240" y="3739896"/>
            <a:ext cx="1097280" cy="310896"/>
          </a:xfrm>
          <a:prstGeom prst="roundRect">
            <a:avLst/>
          </a:prstGeom>
          <a:solidFill>
            <a:srgbClr val="F5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2" y="5468112"/>
            <a:ext cx="35112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4F0EB"/>
                </a:solidFill>
                <a:latin typeface="Aptos"/>
              </a:rPr>
              <a:t>Visible result, not infrastructure noise.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731520"/>
            <a:ext cx="2560320" cy="2560320"/>
          </a:xfrm>
          <a:prstGeom prst="ellipse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5120640"/>
            <a:ext cx="2103120" cy="2103120"/>
          </a:xfrm>
          <a:prstGeom prst="ellipse">
            <a:avLst/>
          </a:prstGeom>
          <a:solidFill>
            <a:srgbClr val="1C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4B9D6"/>
                </a:solidFill>
                <a:latin typeface="Aptos"/>
              </a:rPr>
              <a:t>STORY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4F0EB"/>
                </a:solidFill>
                <a:latin typeface="Aptos Display"/>
              </a:rPr>
              <a:t>Why This Path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ABB7C4"/>
                </a:solidFill>
                <a:latin typeface="Aptos"/>
              </a:rPr>
              <a:t>The first proof is deliberately smaller than the full tour.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993392"/>
            <a:ext cx="3794760" cy="100584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3794760" cy="100584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20240"/>
            <a:ext cx="118872" cy="1005840"/>
          </a:xfrm>
          <a:prstGeom prst="rect">
            <a:avLst/>
          </a:prstGeom>
          <a:solidFill>
            <a:srgbClr val="E8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0312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9212A"/>
                </a:solidFill>
                <a:latin typeface="Aptos Display"/>
              </a:rPr>
              <a:t>Visible app context</a:t>
            </a:r>
          </a:p>
          <a:p>
            <a:r>
              <a:rPr sz="1100" b="0">
                <a:solidFill>
                  <a:srgbClr val="57606D"/>
                </a:solidFill>
                <a:latin typeface="Aptos"/>
              </a:rPr>
              <a:t>PROJECT is not just a launcher. It keeps the selected app legible while you run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163824"/>
            <a:ext cx="3794760" cy="100584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3794760" cy="100584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090672"/>
            <a:ext cx="118872" cy="1005840"/>
          </a:xfrm>
          <a:prstGeom prst="rect">
            <a:avLst/>
          </a:prstGeom>
          <a:solidFill>
            <a:srgbClr val="54B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273552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9212A"/>
                </a:solidFill>
                <a:latin typeface="Aptos Display"/>
              </a:rPr>
              <a:t>Controlled execution</a:t>
            </a:r>
          </a:p>
          <a:p>
            <a:r>
              <a:rPr sz="1100" b="0">
                <a:solidFill>
                  <a:srgbClr val="57606D"/>
                </a:solidFill>
                <a:latin typeface="Aptos"/>
              </a:rPr>
              <a:t>ORCHESTRATE packages and runs the local path without asking the viewer to infer shell state.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334256"/>
            <a:ext cx="3794760" cy="100584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261104"/>
            <a:ext cx="3794760" cy="100584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61104"/>
            <a:ext cx="118872" cy="1005840"/>
          </a:xfrm>
          <a:prstGeom prst="rect">
            <a:avLst/>
          </a:prstGeom>
          <a:solidFill>
            <a:srgbClr val="F5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443984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9212A"/>
                </a:solidFill>
                <a:latin typeface="Aptos Display"/>
              </a:rPr>
              <a:t>Readable proof</a:t>
            </a:r>
          </a:p>
          <a:p>
            <a:r>
              <a:rPr sz="1100" b="0">
                <a:solidFill>
                  <a:srgbClr val="57606D"/>
                </a:solidFill>
                <a:latin typeface="Aptos"/>
              </a:rPr>
              <a:t>ANALYSIS is the payoff: a result a technical audience can parse in seconds.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7488" y="1490472"/>
            <a:ext cx="6309360" cy="411480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83480" y="1417320"/>
            <a:ext cx="6309360" cy="411480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1527048"/>
            <a:ext cx="6089904" cy="389534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166360" y="1271016"/>
            <a:ext cx="1097280" cy="310896"/>
          </a:xfrm>
          <a:prstGeom prst="roundRect">
            <a:avLst/>
          </a:prstGeom>
          <a:solidFill>
            <a:srgbClr val="54B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UI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2" y="5148072"/>
            <a:ext cx="59801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4F0EB"/>
                </a:solidFill>
                <a:latin typeface="Aptos"/>
              </a:rPr>
              <a:t>PROJECT → ORCHESTRATE → ANALYSIS is the newcomer-safe route through the UI.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650992"/>
            <a:ext cx="10561320" cy="786384"/>
          </a:xfrm>
          <a:prstGeom prst="roundRect">
            <a:avLst/>
          </a:prstGeom>
          <a:solidFill>
            <a:srgbClr val="1C2D3D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" y="5815584"/>
            <a:ext cx="10122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F4F0EB"/>
                </a:solidFill>
                <a:latin typeface="Aptos"/>
              </a:rPr>
              <a:t>Narration: this is the smallest AGILAB story that still proves real workflow control and a visible result.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731520"/>
            <a:ext cx="2560320" cy="2560320"/>
          </a:xfrm>
          <a:prstGeom prst="ellipse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5120640"/>
            <a:ext cx="2103120" cy="2103120"/>
          </a:xfrm>
          <a:prstGeom prst="ellipse">
            <a:avLst/>
          </a:prstGeom>
          <a:solidFill>
            <a:srgbClr val="1C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4B9D6"/>
                </a:solidFill>
                <a:latin typeface="Aptos"/>
              </a:rPr>
              <a:t>EXECUTION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6400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4F0EB"/>
                </a:solidFill>
                <a:latin typeface="Aptos Display"/>
              </a:rPr>
              <a:t>Select And Run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ABB7C4"/>
                </a:solidFill>
                <a:latin typeface="Aptos"/>
              </a:rPr>
              <a:t>PROJECT sets the app context; ORCHESTRATE executes the local proof.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1197864" cy="310896"/>
          </a:xfrm>
          <a:prstGeom prst="roundRect">
            <a:avLst/>
          </a:prstGeom>
          <a:solidFill>
            <a:srgbClr val="E8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1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1737360"/>
            <a:ext cx="1527048" cy="310896"/>
          </a:xfrm>
          <a:prstGeom prst="roundRect">
            <a:avLst/>
          </a:prstGeom>
          <a:solidFill>
            <a:srgbClr val="54B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2 ORCHESTRATE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221992"/>
            <a:ext cx="5074920" cy="301752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5074920" cy="301752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258568"/>
            <a:ext cx="4855464" cy="279806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60120" y="2002536"/>
            <a:ext cx="1097280" cy="310896"/>
          </a:xfrm>
          <a:prstGeom prst="roundRect">
            <a:avLst/>
          </a:prstGeom>
          <a:solidFill>
            <a:srgbClr val="E8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782312"/>
            <a:ext cx="474573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4F0EB"/>
                </a:solidFill>
                <a:latin typeface="Aptos"/>
              </a:rPr>
              <a:t>Choose `flight_project` and keep the scenario visible.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2221992"/>
            <a:ext cx="5074920" cy="301752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148840"/>
            <a:ext cx="5074920" cy="301752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2258568"/>
            <a:ext cx="4855464" cy="279806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537960" y="2002536"/>
            <a:ext cx="1143000" cy="310896"/>
          </a:xfrm>
          <a:prstGeom prst="roundRect">
            <a:avLst/>
          </a:prstGeom>
          <a:solidFill>
            <a:srgbClr val="54B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ORCHESTRATE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782312"/>
            <a:ext cx="474573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4F0EB"/>
                </a:solidFill>
                <a:latin typeface="Aptos"/>
              </a:rPr>
              <a:t>INSTALL, then EXECUTE through the local path.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486400"/>
            <a:ext cx="10652760" cy="82296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65099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E86E3A"/>
                </a:solidFill>
                <a:latin typeface="Aptos"/>
              </a:rPr>
              <a:t>— </a:t>
            </a:r>
            <a:r>
              <a:rPr sz="1200" b="0">
                <a:solidFill>
                  <a:srgbClr val="19212A"/>
                </a:solidFill>
                <a:latin typeface="Aptos"/>
              </a:rPr>
              <a:t>Use `flight_project`: the first proof is not about breadth; it is about getting one clean end-to-end run.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E86E3A"/>
                </a:solidFill>
                <a:latin typeface="Aptos"/>
              </a:rPr>
              <a:t>— </a:t>
            </a:r>
            <a:r>
              <a:rPr sz="1200" b="0">
                <a:solidFill>
                  <a:srgbClr val="19212A"/>
                </a:solidFill>
                <a:latin typeface="Aptos"/>
              </a:rPr>
              <a:t>Keep the visual story simple and operator-visible so the evidence reads immediately.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731520"/>
            <a:ext cx="2560320" cy="2560320"/>
          </a:xfrm>
          <a:prstGeom prst="ellipse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5120640"/>
            <a:ext cx="2103120" cy="2103120"/>
          </a:xfrm>
          <a:prstGeom prst="ellipse">
            <a:avLst/>
          </a:prstGeom>
          <a:solidFill>
            <a:srgbClr val="1C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4B9D6"/>
                </a:solidFill>
                <a:latin typeface="Aptos"/>
              </a:rPr>
              <a:t>PROOF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4572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4F0EB"/>
                </a:solidFill>
                <a:latin typeface="Aptos Display"/>
              </a:rPr>
              <a:t>End On Evidence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ABB7C4"/>
                </a:solidFill>
                <a:latin typeface="Aptos"/>
              </a:rPr>
              <a:t>ANALYSIS is where the first proof becomes concrete.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947671"/>
            <a:ext cx="3886200" cy="118872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874519"/>
            <a:ext cx="3886200" cy="118872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74519"/>
            <a:ext cx="118872" cy="1188720"/>
          </a:xfrm>
          <a:prstGeom prst="rect">
            <a:avLst/>
          </a:prstGeom>
          <a:solidFill>
            <a:srgbClr val="E8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057399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9212A"/>
                </a:solidFill>
                <a:latin typeface="Aptos Display"/>
              </a:rPr>
              <a:t>Proof condition</a:t>
            </a:r>
          </a:p>
          <a:p>
            <a:r>
              <a:rPr sz="1100" b="0">
                <a:solidFill>
                  <a:srgbClr val="57606D"/>
                </a:solidFill>
                <a:latin typeface="Aptos"/>
              </a:rPr>
              <a:t>Fresh output under `~/log/execute/flight/` plus a readable ANALYSIS result means the newcomer hurdle is cleared.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346704"/>
            <a:ext cx="3886200" cy="118872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273552"/>
            <a:ext cx="3886200" cy="118872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73552"/>
            <a:ext cx="118872" cy="1188720"/>
          </a:xfrm>
          <a:prstGeom prst="rect">
            <a:avLst/>
          </a:prstGeom>
          <a:solidFill>
            <a:srgbClr val="54B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56432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9212A"/>
                </a:solidFill>
                <a:latin typeface="Aptos Display"/>
              </a:rPr>
              <a:t>Why this matters</a:t>
            </a:r>
          </a:p>
          <a:p>
            <a:r>
              <a:rPr sz="1100" b="0">
                <a:solidFill>
                  <a:srgbClr val="57606D"/>
                </a:solidFill>
                <a:latin typeface="Aptos"/>
              </a:rPr>
              <a:t>The point is not that AGILAB ran somewhere. The point is that it ended on visible evidence a reviewer can inspect.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800600"/>
            <a:ext cx="1371600" cy="310896"/>
          </a:xfrm>
          <a:prstGeom prst="roundRect">
            <a:avLst/>
          </a:prstGeom>
          <a:solidFill>
            <a:srgbClr val="F5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19212A"/>
                </a:solidFill>
                <a:latin typeface="Aptos"/>
              </a:rPr>
              <a:t>VISIBLE RESULT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193792"/>
            <a:ext cx="4206240" cy="786384"/>
          </a:xfrm>
          <a:prstGeom prst="roundRect">
            <a:avLst/>
          </a:prstGeom>
          <a:solidFill>
            <a:srgbClr val="1C2D3D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358384"/>
            <a:ext cx="37673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F4F0EB"/>
                </a:solidFill>
                <a:latin typeface="Aptos"/>
              </a:rPr>
              <a:t>Close the story on the result screen. That is what makes the first proof credible in one glance.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21808" y="1399032"/>
            <a:ext cx="5989320" cy="4526280"/>
          </a:xfrm>
          <a:prstGeom prst="roundRect">
            <a:avLst/>
          </a:prstGeom>
          <a:solidFill>
            <a:srgbClr val="12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57800" y="1325880"/>
            <a:ext cx="5989320" cy="4526280"/>
          </a:xfrm>
          <a:prstGeom prst="roundRect">
            <a:avLst/>
          </a:prstGeom>
          <a:solidFill>
            <a:srgbClr val="F7F3EE"/>
          </a:solidFill>
          <a:ln w="15240">
            <a:solidFill>
              <a:srgbClr val="D6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8" y="1435608"/>
            <a:ext cx="5769864" cy="4306824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440680" y="1179576"/>
            <a:ext cx="1097280" cy="310896"/>
          </a:xfrm>
          <a:prstGeom prst="roundRect">
            <a:avLst/>
          </a:prstGeom>
          <a:solidFill>
            <a:srgbClr val="F5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4F0EB"/>
                </a:solidFill>
                <a:latin typeface="Aptos"/>
              </a:rPr>
              <a:t>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2392" y="5468112"/>
            <a:ext cx="566013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4F0EB"/>
                </a:solidFill>
                <a:latin typeface="Aptos"/>
              </a:rPr>
              <a:t>Readable result screen, centered as the payoff of the first proof.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