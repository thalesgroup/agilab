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6035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215472"/>
                </a:solidFill>
                <a:latin typeface="Aptos"/>
              </a:rPr>
              <a:t>1. Le vrai rôle du Prompt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117043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E656B"/>
                </a:solidFill>
                <a:latin typeface="Aptos"/>
              </a:rPr>
              <a:t>Il cadre un coding harness : modèle, agent loop et runtime supports.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9344"/>
            <a:ext cx="1645920" cy="45720"/>
          </a:xfrm>
          <a:prstGeom prst="rect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79392" y="1847088"/>
            <a:ext cx="36576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300" b="1">
                <a:solidFill>
                  <a:srgbClr val="17222D"/>
                </a:solidFill>
                <a:latin typeface="Aptos"/>
              </a:rPr>
              <a:t>Coding harness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67712"/>
            <a:ext cx="2560320" cy="2999232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1722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730752" y="2267712"/>
            <a:ext cx="4315968" cy="2999232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1722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577072" y="2267712"/>
            <a:ext cx="2971800" cy="2999232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1722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542032"/>
            <a:ext cx="2057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17222D"/>
                </a:solidFill>
                <a:latin typeface="Aptos"/>
              </a:rPr>
              <a:t>Model family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4128" y="3163824"/>
            <a:ext cx="1810512" cy="859536"/>
          </a:xfrm>
          <a:prstGeom prst="roundRect">
            <a:avLst/>
          </a:prstGeom>
          <a:solidFill>
            <a:srgbClr val="FAD9B0"/>
          </a:solidFill>
          <a:ln w="15240">
            <a:solidFill>
              <a:srgbClr val="FAD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456432"/>
            <a:ext cx="15179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100" b="0">
                <a:solidFill>
                  <a:srgbClr val="17222D"/>
                </a:solidFill>
                <a:latin typeface="Aptos"/>
              </a:rPr>
              <a:t>Base LLM</a:t>
            </a:r>
          </a:p>
        </p:txBody>
      </p:sp>
      <p:sp>
        <p:nvSpPr>
          <p:cNvPr id="12" name="Chevron 11"/>
          <p:cNvSpPr/>
          <p:nvPr/>
        </p:nvSpPr>
        <p:spPr>
          <a:xfrm rot="5400000">
            <a:off x="1764792" y="4078224"/>
            <a:ext cx="310896" cy="310896"/>
          </a:xfrm>
          <a:prstGeom prst="chevron">
            <a:avLst/>
          </a:prstGeom>
          <a:solidFill>
            <a:srgbClr val="172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24128" y="4462272"/>
            <a:ext cx="1810512" cy="859536"/>
          </a:xfrm>
          <a:prstGeom prst="roundRect">
            <a:avLst/>
          </a:prstGeom>
          <a:solidFill>
            <a:srgbClr val="FAD9B0"/>
          </a:solidFill>
          <a:ln w="15240">
            <a:solidFill>
              <a:srgbClr val="FAD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4681728"/>
            <a:ext cx="151790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17222D"/>
                </a:solidFill>
                <a:latin typeface="Aptos"/>
              </a:rPr>
              <a:t>Reasoning
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542032"/>
            <a:ext cx="248716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17222D"/>
                </a:solidFill>
                <a:latin typeface="Aptos"/>
              </a:rPr>
              <a:t>Agent loop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9663" y="3511296"/>
            <a:ext cx="1353312" cy="566928"/>
          </a:xfrm>
          <a:prstGeom prst="roundRect">
            <a:avLst/>
          </a:prstGeom>
          <a:solidFill>
            <a:srgbClr val="C5E1F5"/>
          </a:solidFill>
          <a:ln w="15240">
            <a:solidFill>
              <a:srgbClr val="C5E1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69663" y="3666744"/>
            <a:ext cx="1353312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0">
                <a:solidFill>
                  <a:srgbClr val="17222D"/>
                </a:solidFill>
                <a:latin typeface="Aptos"/>
              </a:rPr>
              <a:t>Inspect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16752" y="3511296"/>
            <a:ext cx="1353312" cy="566928"/>
          </a:xfrm>
          <a:prstGeom prst="roundRect">
            <a:avLst/>
          </a:prstGeom>
          <a:solidFill>
            <a:srgbClr val="C5E1F5"/>
          </a:solidFill>
          <a:ln w="15240">
            <a:solidFill>
              <a:srgbClr val="C5E1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16752" y="3666744"/>
            <a:ext cx="1353312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0">
                <a:solidFill>
                  <a:srgbClr val="17222D"/>
                </a:solidFill>
                <a:latin typeface="Aptos"/>
              </a:rPr>
              <a:t>Choose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69663" y="4590288"/>
            <a:ext cx="1353312" cy="566928"/>
          </a:xfrm>
          <a:prstGeom prst="roundRect">
            <a:avLst/>
          </a:prstGeom>
          <a:solidFill>
            <a:srgbClr val="C5E1F5"/>
          </a:solidFill>
          <a:ln w="15240">
            <a:solidFill>
              <a:srgbClr val="C5E1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69663" y="4745736"/>
            <a:ext cx="1353312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0">
                <a:solidFill>
                  <a:srgbClr val="17222D"/>
                </a:solidFill>
                <a:latin typeface="Aptos"/>
              </a:rPr>
              <a:t>Observe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16752" y="4590288"/>
            <a:ext cx="1353312" cy="566928"/>
          </a:xfrm>
          <a:prstGeom prst="roundRect">
            <a:avLst/>
          </a:prstGeom>
          <a:solidFill>
            <a:srgbClr val="C5E1F5"/>
          </a:solidFill>
          <a:ln w="15240">
            <a:solidFill>
              <a:srgbClr val="C5E1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16752" y="4745736"/>
            <a:ext cx="1353312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0">
                <a:solidFill>
                  <a:srgbClr val="17222D"/>
                </a:solidFill>
                <a:latin typeface="Aptos"/>
              </a:rPr>
              <a:t>Act</a:t>
            </a:r>
          </a:p>
        </p:txBody>
      </p:sp>
      <p:sp>
        <p:nvSpPr>
          <p:cNvPr id="24" name="Chevron 23"/>
          <p:cNvSpPr/>
          <p:nvPr/>
        </p:nvSpPr>
        <p:spPr>
          <a:xfrm>
            <a:off x="5541264" y="3712463"/>
            <a:ext cx="256032" cy="164592"/>
          </a:xfrm>
          <a:prstGeom prst="chevron">
            <a:avLst/>
          </a:prstGeom>
          <a:solidFill>
            <a:srgbClr val="172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evron 24"/>
          <p:cNvSpPr/>
          <p:nvPr/>
        </p:nvSpPr>
        <p:spPr>
          <a:xfrm rot="5400000">
            <a:off x="6547104" y="4096512"/>
            <a:ext cx="164592" cy="256032"/>
          </a:xfrm>
          <a:prstGeom prst="chevron">
            <a:avLst/>
          </a:prstGeom>
          <a:solidFill>
            <a:srgbClr val="172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Chevron 25"/>
          <p:cNvSpPr/>
          <p:nvPr/>
        </p:nvSpPr>
        <p:spPr>
          <a:xfrm rot="10800000">
            <a:off x="5541264" y="4828032"/>
            <a:ext cx="256032" cy="164592"/>
          </a:xfrm>
          <a:prstGeom prst="chevron">
            <a:avLst/>
          </a:prstGeom>
          <a:solidFill>
            <a:srgbClr val="172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evron 26"/>
          <p:cNvSpPr/>
          <p:nvPr/>
        </p:nvSpPr>
        <p:spPr>
          <a:xfrm rot="16200000">
            <a:off x="4718304" y="4078224"/>
            <a:ext cx="164592" cy="256032"/>
          </a:xfrm>
          <a:prstGeom prst="chevron">
            <a:avLst/>
          </a:prstGeom>
          <a:solidFill>
            <a:srgbClr val="172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61120" y="2542032"/>
            <a:ext cx="21762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100" b="0">
                <a:solidFill>
                  <a:srgbClr val="17222D"/>
                </a:solidFill>
                <a:latin typeface="Aptos"/>
              </a:rPr>
              <a:t>Runtime supports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51392" y="3474720"/>
            <a:ext cx="1133856" cy="493776"/>
          </a:xfrm>
          <a:prstGeom prst="roundRect">
            <a:avLst/>
          </a:prstGeom>
          <a:solidFill>
            <a:srgbClr val="E2D0F6"/>
          </a:solidFill>
          <a:ln w="15240">
            <a:solidFill>
              <a:srgbClr val="E2D0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51392" y="3602736"/>
            <a:ext cx="1133856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17222D"/>
                </a:solidFill>
                <a:latin typeface="Aptos"/>
              </a:rPr>
              <a:t>Repo context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213848" y="3474720"/>
            <a:ext cx="1133856" cy="493776"/>
          </a:xfrm>
          <a:prstGeom prst="roundRect">
            <a:avLst/>
          </a:prstGeom>
          <a:solidFill>
            <a:srgbClr val="E2D0F6"/>
          </a:solidFill>
          <a:ln w="15240">
            <a:solidFill>
              <a:srgbClr val="E2D0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3848" y="3602736"/>
            <a:ext cx="1133856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17222D"/>
                </a:solidFill>
                <a:latin typeface="Aptos"/>
              </a:rPr>
              <a:t>Tools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851392" y="4261104"/>
            <a:ext cx="1133856" cy="493776"/>
          </a:xfrm>
          <a:prstGeom prst="roundRect">
            <a:avLst/>
          </a:prstGeom>
          <a:solidFill>
            <a:srgbClr val="E2D0F6"/>
          </a:solidFill>
          <a:ln w="15240">
            <a:solidFill>
              <a:srgbClr val="E2D0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851392" y="4389120"/>
            <a:ext cx="1133856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17222D"/>
                </a:solidFill>
                <a:latin typeface="Aptos"/>
              </a:rPr>
              <a:t>Permissions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213848" y="4261104"/>
            <a:ext cx="1133856" cy="493776"/>
          </a:xfrm>
          <a:prstGeom prst="roundRect">
            <a:avLst/>
          </a:prstGeom>
          <a:solidFill>
            <a:srgbClr val="E2D0F6"/>
          </a:solidFill>
          <a:ln w="15240">
            <a:solidFill>
              <a:srgbClr val="E2D0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213848" y="4389120"/>
            <a:ext cx="1133856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17222D"/>
                </a:solidFill>
                <a:latin typeface="Aptos"/>
              </a:rPr>
              <a:t>Memory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851392" y="5047488"/>
            <a:ext cx="1133856" cy="493776"/>
          </a:xfrm>
          <a:prstGeom prst="roundRect">
            <a:avLst/>
          </a:prstGeom>
          <a:solidFill>
            <a:srgbClr val="E2D0F6"/>
          </a:solidFill>
          <a:ln w="15240">
            <a:solidFill>
              <a:srgbClr val="E2D0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51392" y="5175504"/>
            <a:ext cx="1133856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17222D"/>
                </a:solidFill>
                <a:latin typeface="Aptos"/>
              </a:rPr>
              <a:t>Cache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213848" y="5047488"/>
            <a:ext cx="1133856" cy="493776"/>
          </a:xfrm>
          <a:prstGeom prst="roundRect">
            <a:avLst/>
          </a:prstGeom>
          <a:solidFill>
            <a:srgbClr val="E2D0F6"/>
          </a:solidFill>
          <a:ln w="15240">
            <a:solidFill>
              <a:srgbClr val="E2D0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13848" y="5175504"/>
            <a:ext cx="1133856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17222D"/>
                </a:solidFill>
                <a:latin typeface="Aptos"/>
              </a:rPr>
              <a:t>Execution</a:t>
            </a:r>
          </a:p>
        </p:txBody>
      </p:sp>
      <p:sp>
        <p:nvSpPr>
          <p:cNvPr id="41" name="Chevron 40"/>
          <p:cNvSpPr/>
          <p:nvPr/>
        </p:nvSpPr>
        <p:spPr>
          <a:xfrm>
            <a:off x="3255264" y="3767328"/>
            <a:ext cx="310896" cy="256032"/>
          </a:xfrm>
          <a:prstGeom prst="chevron">
            <a:avLst/>
          </a:prstGeom>
          <a:solidFill>
            <a:srgbClr val="172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hevron 41"/>
          <p:cNvSpPr/>
          <p:nvPr/>
        </p:nvSpPr>
        <p:spPr>
          <a:xfrm>
            <a:off x="8174736" y="3767328"/>
            <a:ext cx="310896" cy="256032"/>
          </a:xfrm>
          <a:prstGeom prst="chevron">
            <a:avLst/>
          </a:prstGeom>
          <a:solidFill>
            <a:srgbClr val="172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5669280"/>
            <a:ext cx="103327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BF5A24"/>
                </a:solidFill>
                <a:latin typeface="Aptos"/>
              </a:rPr>
              <a:t>Le Prompt Engineering sert ici à cadrer la boucle, les outils, les règles et le bon niveau de contexte.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6035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215472"/>
                </a:solidFill>
                <a:latin typeface="Aptos"/>
              </a:rPr>
              <a:t>2. Le landscape agentique en 4 couches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117043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E656B"/>
                </a:solidFill>
                <a:latin typeface="Aptos"/>
              </a:rPr>
              <a:t>Le modèle calcule. Le framework organise. L’agent agit. L’UI expose.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9344"/>
            <a:ext cx="1645920" cy="45720"/>
          </a:xfrm>
          <a:prstGeom prst="rect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86384" y="1993392"/>
            <a:ext cx="2468880" cy="2514600"/>
          </a:xfrm>
          <a:prstGeom prst="roundRect">
            <a:avLst/>
          </a:prstGeom>
          <a:solidFill>
            <a:srgbClr val="EAF3FC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280160" y="2249424"/>
            <a:ext cx="1481328" cy="31089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276856"/>
            <a:ext cx="148132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215472"/>
                </a:solidFill>
                <a:latin typeface="Aptos"/>
              </a:rPr>
              <a:t>MODÈLE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2798064"/>
            <a:ext cx="210312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17222D"/>
                </a:solidFill>
                <a:latin typeface="Aptos"/>
              </a:rPr>
              <a:t>produit texte,
code, plan,
résumé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39312" y="1993392"/>
            <a:ext cx="2468880" cy="2514600"/>
          </a:xfrm>
          <a:prstGeom prst="roundRect">
            <a:avLst/>
          </a:prstGeom>
          <a:solidFill>
            <a:srgbClr val="F0ECFB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133088" y="2249424"/>
            <a:ext cx="1481328" cy="31089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33088" y="2276856"/>
            <a:ext cx="148132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215472"/>
                </a:solidFill>
                <a:latin typeface="Aptos"/>
              </a:rPr>
              <a:t>FRAMEWORK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22192" y="2798064"/>
            <a:ext cx="210312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17222D"/>
                </a:solidFill>
                <a:latin typeface="Aptos"/>
              </a:rPr>
              <a:t>structure état,
outils, mémoire,
routing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1993392"/>
            <a:ext cx="2468880" cy="2514600"/>
          </a:xfrm>
          <a:prstGeom prst="roundRect">
            <a:avLst/>
          </a:prstGeom>
          <a:solidFill>
            <a:srgbClr val="F9EEE4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86016" y="2249424"/>
            <a:ext cx="1481328" cy="31089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86016" y="2276856"/>
            <a:ext cx="148132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215472"/>
                </a:solidFill>
                <a:latin typeface="Aptos"/>
              </a:rPr>
              <a:t>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2798064"/>
            <a:ext cx="210312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17222D"/>
                </a:solidFill>
                <a:latin typeface="Aptos"/>
              </a:rPr>
              <a:t>choisit,
enchaîne,
vérifie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45167" y="1993392"/>
            <a:ext cx="2468880" cy="2514600"/>
          </a:xfrm>
          <a:prstGeom prst="roundRect">
            <a:avLst/>
          </a:prstGeom>
          <a:solidFill>
            <a:srgbClr val="FCF3EA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38943" y="2249424"/>
            <a:ext cx="1481328" cy="31089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38943" y="2276856"/>
            <a:ext cx="148132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215472"/>
                </a:solidFill>
                <a:latin typeface="Aptos"/>
              </a:rPr>
              <a:t>UI / 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8047" y="2798064"/>
            <a:ext cx="210312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17222D"/>
                </a:solidFill>
                <a:latin typeface="Aptos"/>
              </a:rPr>
              <a:t>rend le système
visible et
pilotable</a:t>
            </a:r>
          </a:p>
        </p:txBody>
      </p:sp>
      <p:sp>
        <p:nvSpPr>
          <p:cNvPr id="21" name="Chevron 20"/>
          <p:cNvSpPr/>
          <p:nvPr/>
        </p:nvSpPr>
        <p:spPr>
          <a:xfrm>
            <a:off x="3017520" y="2999232"/>
            <a:ext cx="438912" cy="365760"/>
          </a:xfrm>
          <a:prstGeom prst="chevron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evron 21"/>
          <p:cNvSpPr/>
          <p:nvPr/>
        </p:nvSpPr>
        <p:spPr>
          <a:xfrm>
            <a:off x="5870448" y="2999232"/>
            <a:ext cx="438912" cy="365760"/>
          </a:xfrm>
          <a:prstGeom prst="chevron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evron 22"/>
          <p:cNvSpPr/>
          <p:nvPr/>
        </p:nvSpPr>
        <p:spPr>
          <a:xfrm>
            <a:off x="8723376" y="2999232"/>
            <a:ext cx="438912" cy="365760"/>
          </a:xfrm>
          <a:prstGeom prst="chevron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96112" y="4572000"/>
            <a:ext cx="4800600" cy="8412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4736592"/>
            <a:ext cx="4443984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BF5A24"/>
                </a:solidFill>
                <a:latin typeface="Aptos"/>
              </a:rPr>
              <a:t>Message clé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" y="4974336"/>
            <a:ext cx="444398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215472"/>
                </a:solidFill>
                <a:latin typeface="Aptos"/>
              </a:rPr>
              <a:t>Le gain visible n’est pas dans la couche modèle seule.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89320" y="4572000"/>
            <a:ext cx="5285232" cy="841248"/>
          </a:xfrm>
          <a:prstGeom prst="roundRect">
            <a:avLst/>
          </a:prstGeom>
          <a:solidFill>
            <a:srgbClr val="F9F3EC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99632" y="4736592"/>
            <a:ext cx="486460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BF5A24"/>
                </a:solidFill>
                <a:latin typeface="Aptos"/>
              </a:rPr>
              <a:t>Cas AGILab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99632" y="4974336"/>
            <a:ext cx="486460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215472"/>
                </a:solidFill>
                <a:latin typeface="Aptos"/>
              </a:rPr>
              <a:t>AGENTS.md + skills + scripts renforcent surtout la couche agent.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6035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215472"/>
                </a:solidFill>
                <a:latin typeface="Aptos"/>
              </a:rPr>
              <a:t>3. La montée réelle de productivité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117043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E656B"/>
                </a:solidFill>
                <a:latin typeface="Aptos"/>
              </a:rPr>
              <a:t>Même modèle. Trois niveaux de valeur très différents.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9344"/>
            <a:ext cx="1645920" cy="45720"/>
          </a:xfrm>
          <a:prstGeom prst="rect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13232" y="2907792"/>
            <a:ext cx="3063240" cy="1389888"/>
          </a:xfrm>
          <a:prstGeom prst="roundRect">
            <a:avLst/>
          </a:prstGeom>
          <a:solidFill>
            <a:srgbClr val="F4F0EB"/>
          </a:solidFill>
          <a:ln w="15240">
            <a:solidFill>
              <a:srgbClr val="F4F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03320" y="2359152"/>
            <a:ext cx="3246120" cy="1938528"/>
          </a:xfrm>
          <a:prstGeom prst="roundRect">
            <a:avLst/>
          </a:prstGeom>
          <a:solidFill>
            <a:srgbClr val="F2EBE3"/>
          </a:solidFill>
          <a:ln w="15240">
            <a:solidFill>
              <a:srgbClr val="F2E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931152" y="1810512"/>
            <a:ext cx="3675887" cy="2487168"/>
          </a:xfrm>
          <a:prstGeom prst="roundRect">
            <a:avLst/>
          </a:prstGeom>
          <a:solidFill>
            <a:srgbClr val="EFE3D6"/>
          </a:solidFill>
          <a:ln w="15240">
            <a:solidFill>
              <a:srgbClr val="EFE3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2139696"/>
            <a:ext cx="2697480" cy="19933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88136" y="2304288"/>
            <a:ext cx="1078992" cy="310896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88136" y="2331720"/>
            <a:ext cx="107899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BF5A24"/>
                </a:solidFill>
                <a:latin typeface="Aptos"/>
              </a:rPr>
              <a:t>NIVEAU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" y="2706624"/>
            <a:ext cx="225856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215472"/>
                </a:solidFill>
                <a:latin typeface="Aptos"/>
              </a:rPr>
              <a:t>Chatbot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" y="3072384"/>
            <a:ext cx="225856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BF5A24"/>
                </a:solidFill>
                <a:latin typeface="Aptos"/>
              </a:rPr>
              <a:t>répond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" y="3438144"/>
            <a:ext cx="2185416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>
                <a:solidFill>
                  <a:srgbClr val="5E656B"/>
                </a:solidFill>
                <a:latin typeface="Aptos"/>
              </a:rPr>
              <a:t>• copier-coller
• tests à la main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40180" y="3639312"/>
            <a:ext cx="1554480" cy="347472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0180" y="3666744"/>
            <a:ext cx="15544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BF5A24"/>
                </a:solidFill>
                <a:latin typeface="Aptos"/>
              </a:rPr>
              <a:t>GAIN LIMITÉ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13632" y="1792224"/>
            <a:ext cx="2834640" cy="2340864"/>
          </a:xfrm>
          <a:prstGeom prst="roundRect">
            <a:avLst/>
          </a:prstGeom>
          <a:solidFill>
            <a:srgbClr val="FFFAF4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133088" y="1956816"/>
            <a:ext cx="1078992" cy="310896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33088" y="1984248"/>
            <a:ext cx="107899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BF5A24"/>
                </a:solidFill>
                <a:latin typeface="Aptos"/>
              </a:rPr>
              <a:t>NIVEAU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33088" y="2359152"/>
            <a:ext cx="239572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215472"/>
                </a:solidFill>
                <a:latin typeface="Aptos"/>
              </a:rPr>
              <a:t>Plugin 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33088" y="2724912"/>
            <a:ext cx="239572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BF5A24"/>
                </a:solidFill>
                <a:latin typeface="Aptos"/>
              </a:rPr>
              <a:t>édite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9664" y="3090672"/>
            <a:ext cx="2322576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>
                <a:solidFill>
                  <a:srgbClr val="5E656B"/>
                </a:solidFill>
                <a:latin typeface="Aptos"/>
              </a:rPr>
              <a:t>• contexte local
• itération rapide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53712" y="3639312"/>
            <a:ext cx="1554480" cy="347472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53712" y="3666744"/>
            <a:ext cx="15544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BF5A24"/>
                </a:solidFill>
                <a:latin typeface="Aptos"/>
              </a:rPr>
              <a:t>GAIN MOYEN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69480" y="1389888"/>
            <a:ext cx="3246120" cy="2743200"/>
          </a:xfrm>
          <a:prstGeom prst="roundRect">
            <a:avLst/>
          </a:prstGeom>
          <a:solidFill>
            <a:srgbClr val="FFF8EE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488936" y="1554480"/>
            <a:ext cx="1078992" cy="310896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88936" y="1581912"/>
            <a:ext cx="107899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BF5A24"/>
                </a:solidFill>
                <a:latin typeface="Aptos"/>
              </a:rPr>
              <a:t>NIVEAU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88936" y="1956816"/>
            <a:ext cx="280720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215472"/>
                </a:solidFill>
                <a:latin typeface="Aptos"/>
              </a:rPr>
              <a:t>Agent multi-skill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88936" y="2322576"/>
            <a:ext cx="280720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BF5A24"/>
                </a:solidFill>
                <a:latin typeface="Aptos"/>
              </a:rPr>
              <a:t>orchestre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5512" y="2688336"/>
            <a:ext cx="2734056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>
                <a:solidFill>
                  <a:srgbClr val="5E656B"/>
                </a:solidFill>
                <a:latin typeface="Aptos"/>
              </a:rPr>
              <a:t>• repo + skills
• scripts + vérification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15300" y="3639312"/>
            <a:ext cx="1554480" cy="347472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15300" y="3666744"/>
            <a:ext cx="15544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BF5A24"/>
                </a:solidFill>
                <a:latin typeface="Aptos"/>
              </a:rPr>
              <a:t>GAIN FORT</a:t>
            </a:r>
          </a:p>
        </p:txBody>
      </p:sp>
      <p:sp>
        <p:nvSpPr>
          <p:cNvPr id="32" name="Chevron 31"/>
          <p:cNvSpPr/>
          <p:nvPr/>
        </p:nvSpPr>
        <p:spPr>
          <a:xfrm>
            <a:off x="1371600" y="4663440"/>
            <a:ext cx="9052560" cy="384048"/>
          </a:xfrm>
          <a:prstGeom prst="chevron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417320" y="5102352"/>
            <a:ext cx="8961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100" b="1">
                <a:solidFill>
                  <a:srgbClr val="BF5A24"/>
                </a:solidFill>
                <a:latin typeface="Aptos"/>
              </a:rPr>
              <a:t>Plus on retire l’orchestration à l’humain, plus le gain change d’échelle.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6035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215472"/>
                </a:solidFill>
                <a:latin typeface="Aptos"/>
              </a:rPr>
              <a:t>4. Pourquoi AGILab est un bon cas d’école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117043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E656B"/>
                </a:solidFill>
                <a:latin typeface="Aptos"/>
              </a:rPr>
              <a:t>Dans un repo riche, le coût d’orchestration devient visible immédiatement.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9344"/>
            <a:ext cx="1645920" cy="45720"/>
          </a:xfrm>
          <a:prstGeom prst="rect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68680" y="2148840"/>
            <a:ext cx="25603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4871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215472"/>
                </a:solidFill>
                <a:latin typeface="Aptos"/>
              </a:rPr>
              <a:t>Demande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" y="3063240"/>
            <a:ext cx="22402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1A1F24"/>
                </a:solidFill>
                <a:latin typeface="Aptos"/>
              </a:rPr>
              <a:t>corriger une page
ou un formulaire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60520" y="2148840"/>
            <a:ext cx="25603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24871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215472"/>
                </a:solidFill>
                <a:latin typeface="Aptos"/>
              </a:rPr>
              <a:t>Guidage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5112" y="3063240"/>
            <a:ext cx="22402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1A1F24"/>
                </a:solidFill>
                <a:latin typeface="Aptos"/>
              </a:rPr>
              <a:t>prompt + AGENTS.md
+ skills du repo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52360" y="2148840"/>
            <a:ext cx="25603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35240" y="24871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215472"/>
                </a:solidFill>
                <a:latin typeface="Aptos"/>
              </a:rPr>
              <a:t>Sortie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16952" y="3063240"/>
            <a:ext cx="22402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1A1F24"/>
                </a:solidFill>
                <a:latin typeface="Aptos"/>
              </a:rPr>
              <a:t>patch plus fiable
et validation ciblée</a:t>
            </a:r>
          </a:p>
        </p:txBody>
      </p:sp>
      <p:sp>
        <p:nvSpPr>
          <p:cNvPr id="14" name="Chevron 13"/>
          <p:cNvSpPr/>
          <p:nvPr/>
        </p:nvSpPr>
        <p:spPr>
          <a:xfrm>
            <a:off x="3520440" y="2953512"/>
            <a:ext cx="384048" cy="347472"/>
          </a:xfrm>
          <a:prstGeom prst="chevron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evron 14"/>
          <p:cNvSpPr/>
          <p:nvPr/>
        </p:nvSpPr>
        <p:spPr>
          <a:xfrm>
            <a:off x="6812280" y="2953512"/>
            <a:ext cx="384048" cy="347472"/>
          </a:xfrm>
          <a:prstGeom prst="chevron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14400" y="4709160"/>
            <a:ext cx="10058400" cy="658368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919472"/>
            <a:ext cx="9601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BF5A24"/>
                </a:solidFill>
                <a:latin typeface="Aptos"/>
              </a:rPr>
              <a:t>AGILab montre bien où un agent apporte de la valeur : il rappelle comment bien travailler dans ce repo.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5504688"/>
            <a:ext cx="10058400" cy="7132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5650992"/>
            <a:ext cx="9509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215472"/>
                </a:solidFill>
                <a:latin typeface="Aptos"/>
              </a:rPr>
              <a:t>Benchmark lisible : PandasWorker = process, PolarsWorker = threads, même workload, exécution rendue explicite.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6035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215472"/>
                </a:solidFill>
                <a:latin typeface="Aptos"/>
              </a:rPr>
              <a:t>5. Pourquoi Codex CLI devient performant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117043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E656B"/>
                </a:solidFill>
                <a:latin typeface="Aptos"/>
              </a:rPr>
              <a:t>Son intérêt : agir avec le bon contexte, pas tout lire ni tout improviser.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9344"/>
            <a:ext cx="1645920" cy="45720"/>
          </a:xfrm>
          <a:prstGeom prst="rect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" y="2331720"/>
            <a:ext cx="2057400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591056" y="1993392"/>
            <a:ext cx="566928" cy="329184"/>
          </a:xfrm>
          <a:prstGeom prst="roundRect">
            <a:avLst/>
          </a:prstGeom>
          <a:solidFill>
            <a:srgbClr val="BF5A24"/>
          </a:solidFill>
          <a:ln w="15240">
            <a:solidFill>
              <a:srgbClr val="BF5A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91056" y="2020824"/>
            <a:ext cx="566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2743200"/>
            <a:ext cx="18288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A1F24"/>
                </a:solidFill>
                <a:latin typeface="Aptos"/>
              </a:rPr>
              <a:t>métadonnées</a:t>
            </a:r>
          </a:p>
        </p:txBody>
      </p:sp>
      <p:sp>
        <p:nvSpPr>
          <p:cNvPr id="9" name="Chevron 8"/>
          <p:cNvSpPr/>
          <p:nvPr/>
        </p:nvSpPr>
        <p:spPr>
          <a:xfrm>
            <a:off x="2743200" y="2743200"/>
            <a:ext cx="347472" cy="256032"/>
          </a:xfrm>
          <a:prstGeom prst="chevron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93008" y="2331720"/>
            <a:ext cx="2057400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42816" y="1993392"/>
            <a:ext cx="566928" cy="329184"/>
          </a:xfrm>
          <a:prstGeom prst="roundRect">
            <a:avLst/>
          </a:prstGeom>
          <a:solidFill>
            <a:srgbClr val="BF5A24"/>
          </a:solidFill>
          <a:ln w="15240">
            <a:solidFill>
              <a:srgbClr val="BF5A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42816" y="2020824"/>
            <a:ext cx="566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2736" y="2743200"/>
            <a:ext cx="18288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A1F24"/>
                </a:solidFill>
                <a:latin typeface="Aptos"/>
              </a:rPr>
              <a:t>SKILL.md</a:t>
            </a:r>
          </a:p>
        </p:txBody>
      </p:sp>
      <p:sp>
        <p:nvSpPr>
          <p:cNvPr id="14" name="Chevron 13"/>
          <p:cNvSpPr/>
          <p:nvPr/>
        </p:nvSpPr>
        <p:spPr>
          <a:xfrm>
            <a:off x="5394960" y="2743200"/>
            <a:ext cx="347472" cy="256032"/>
          </a:xfrm>
          <a:prstGeom prst="chevron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44768" y="2331720"/>
            <a:ext cx="2057400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94576" y="1993392"/>
            <a:ext cx="566928" cy="329184"/>
          </a:xfrm>
          <a:prstGeom prst="roundRect">
            <a:avLst/>
          </a:prstGeom>
          <a:solidFill>
            <a:srgbClr val="BF5A24"/>
          </a:solidFill>
          <a:ln w="15240">
            <a:solidFill>
              <a:srgbClr val="BF5A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94576" y="2020824"/>
            <a:ext cx="566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4496" y="2743200"/>
            <a:ext cx="18288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A1F24"/>
                </a:solidFill>
                <a:latin typeface="Aptos"/>
              </a:rPr>
              <a:t>scripts utiles</a:t>
            </a:r>
          </a:p>
        </p:txBody>
      </p:sp>
      <p:sp>
        <p:nvSpPr>
          <p:cNvPr id="19" name="Chevron 18"/>
          <p:cNvSpPr/>
          <p:nvPr/>
        </p:nvSpPr>
        <p:spPr>
          <a:xfrm>
            <a:off x="8046720" y="2743200"/>
            <a:ext cx="347472" cy="256032"/>
          </a:xfrm>
          <a:prstGeom prst="chevron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796528" y="2331720"/>
            <a:ext cx="2057400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546336" y="1993392"/>
            <a:ext cx="566928" cy="329184"/>
          </a:xfrm>
          <a:prstGeom prst="roundRect">
            <a:avLst/>
          </a:prstGeom>
          <a:solidFill>
            <a:srgbClr val="BF5A24"/>
          </a:solidFill>
          <a:ln w="15240">
            <a:solidFill>
              <a:srgbClr val="BF5A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46336" y="2020824"/>
            <a:ext cx="566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06256" y="2743200"/>
            <a:ext cx="18288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A1F24"/>
                </a:solidFill>
                <a:latin typeface="Aptos"/>
              </a:rPr>
              <a:t>exécution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97280" y="4572000"/>
            <a:ext cx="9875520" cy="786384"/>
          </a:xfrm>
          <a:prstGeom prst="roundRect">
            <a:avLst/>
          </a:prstGeom>
          <a:solidFill>
            <a:srgbClr val="F4ECE0"/>
          </a:solidFill>
          <a:ln w="15240">
            <a:solidFill>
              <a:srgbClr val="F4E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25880" y="4818888"/>
            <a:ext cx="93268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BF5A24"/>
                </a:solidFill>
                <a:latin typeface="Aptos"/>
              </a:rPr>
              <a:t>Progressive disclosure : Codex n’ouvre que ce qui est utile, au moment utile.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6035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215472"/>
                </a:solidFill>
                <a:latin typeface="Aptos"/>
              </a:rPr>
              <a:t>6. Ce qu’un skill apporte vraiment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117043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E656B"/>
                </a:solidFill>
                <a:latin typeface="Aptos"/>
              </a:rPr>
              <a:t>Le skill transforme une tâche vague en workflow reproductible.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9344"/>
            <a:ext cx="1645920" cy="45720"/>
          </a:xfrm>
          <a:prstGeom prst="rect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" y="2084831"/>
            <a:ext cx="3063240" cy="26060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2395728"/>
            <a:ext cx="2697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BF5A24"/>
                </a:solidFill>
                <a:latin typeface="Aptos"/>
              </a:rPr>
              <a:t>scripts/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18488" y="2852928"/>
            <a:ext cx="1463040" cy="365760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8488" y="2880360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BF5A24"/>
                </a:solidFill>
                <a:latin typeface="Aptos"/>
              </a:rPr>
              <a:t>exécute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3456432"/>
            <a:ext cx="2514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5E656B"/>
                </a:solidFill>
                <a:latin typeface="Aptos"/>
              </a:rPr>
              <a:t>CLI déterministe
run_eval.py
collect_metrics.py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2084831"/>
            <a:ext cx="3063240" cy="26060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2395728"/>
            <a:ext cx="2697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BF5A24"/>
                </a:solidFill>
                <a:latin typeface="Aptos"/>
              </a:rPr>
              <a:t>references/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0" y="2852928"/>
            <a:ext cx="1463040" cy="365760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0" y="2880360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BF5A24"/>
                </a:solidFill>
                <a:latin typeface="Aptos"/>
              </a:rPr>
              <a:t>cadre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3456432"/>
            <a:ext cx="2514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5E656B"/>
                </a:solidFill>
                <a:latin typeface="Aptos"/>
              </a:rPr>
              <a:t>protocoles
checklists
métriques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11312" y="2084831"/>
            <a:ext cx="3063240" cy="2606040"/>
          </a:xfrm>
          <a:prstGeom prst="roundRect">
            <a:avLst/>
          </a:prstGeom>
          <a:solidFill>
            <a:srgbClr val="F9F3EC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94192" y="2395728"/>
            <a:ext cx="2697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BF5A24"/>
                </a:solidFill>
                <a:latin typeface="Aptos"/>
              </a:rPr>
              <a:t>assets/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88552" y="2852928"/>
            <a:ext cx="1463040" cy="365760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88552" y="2880360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BF5A24"/>
                </a:solidFill>
                <a:latin typeface="Aptos"/>
              </a:rPr>
              <a:t>fournit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85632" y="3456432"/>
            <a:ext cx="2514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5E656B"/>
                </a:solidFill>
                <a:latin typeface="Aptos"/>
              </a:rPr>
              <a:t>templates
exemples d’input
ressources locales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6035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215472"/>
                </a:solidFill>
                <a:latin typeface="Aptos"/>
              </a:rPr>
              <a:t>7. Pourquoi Codex ne met pas les skills à jour tout seul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117043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E656B"/>
                </a:solidFill>
                <a:latin typeface="Aptos"/>
              </a:rPr>
              <a:t>Plus d’autonomie ne veut pas dire réécriture silencieuse du repo.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9344"/>
            <a:ext cx="1645920" cy="45720"/>
          </a:xfrm>
          <a:prstGeom prst="rect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2057400"/>
            <a:ext cx="4572000" cy="2468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88720" y="2331720"/>
            <a:ext cx="1554480" cy="384048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359152"/>
            <a:ext cx="1554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BF5A24"/>
                </a:solidFill>
                <a:latin typeface="Aptos"/>
              </a:rPr>
              <a:t>AUTONOMIE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880360"/>
            <a:ext cx="3931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100" b="1">
                <a:solidFill>
                  <a:srgbClr val="215472"/>
                </a:solidFill>
                <a:latin typeface="Aptos"/>
              </a:rPr>
              <a:t>oui pour lire,
choisir, lancer et vérifier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29400" y="2057400"/>
            <a:ext cx="4572000" cy="2468880"/>
          </a:xfrm>
          <a:prstGeom prst="roundRect">
            <a:avLst/>
          </a:prstGeom>
          <a:solidFill>
            <a:srgbClr val="F9F3EC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931152" y="2331720"/>
            <a:ext cx="2148840" cy="384048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31152" y="2359152"/>
            <a:ext cx="21488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BF5A24"/>
                </a:solidFill>
                <a:latin typeface="Aptos"/>
              </a:rPr>
              <a:t>RÉÉCRITURE SILENCIEUSE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20" y="2880360"/>
            <a:ext cx="3977639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100" b="1">
                <a:solidFill>
                  <a:srgbClr val="215472"/>
                </a:solidFill>
                <a:latin typeface="Aptos"/>
              </a:rPr>
              <a:t>non pour modifier seul
les règles du repo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956048"/>
            <a:ext cx="10058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5E656B"/>
                </a:solidFill>
                <a:latin typeface="Aptos"/>
              </a:rPr>
              <a:t>Pourquoi : pas de dérive silencieuse, pas de surprise côté repo, amélioration volontaire.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6035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215472"/>
                </a:solidFill>
                <a:latin typeface="Aptos"/>
              </a:rPr>
              <a:t>8. Code Companion V3 vs Codex CLI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117043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E656B"/>
                </a:solidFill>
                <a:latin typeface="Aptos"/>
              </a:rPr>
              <a:t>Le plugin fait gagner du temps dans l’IDE. L’agent fait gagner des étapes de travail.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9344"/>
            <a:ext cx="1645920" cy="45720"/>
          </a:xfrm>
          <a:prstGeom prst="rect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" y="1920240"/>
            <a:ext cx="4709160" cy="3063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304288"/>
            <a:ext cx="41605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15472"/>
                </a:solidFill>
                <a:latin typeface="Aptos"/>
              </a:rPr>
              <a:t>Code Companion V3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97480"/>
            <a:ext cx="39319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A1F24"/>
                </a:solidFill>
                <a:latin typeface="Aptos"/>
              </a:rPr>
              <a:t>assistant IDE sécurisé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" y="3246120"/>
            <a:ext cx="3840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5E656B"/>
                </a:solidFill>
                <a:latin typeface="Aptos"/>
              </a:rPr>
              <a:t>• édition locale rapide
• bon pour itérer
• l’humain orchestre encore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920240"/>
            <a:ext cx="4709160" cy="3063240"/>
          </a:xfrm>
          <a:prstGeom prst="roundRect">
            <a:avLst/>
          </a:prstGeom>
          <a:solidFill>
            <a:srgbClr val="F9F3EC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8232" y="2304288"/>
            <a:ext cx="41605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BF5A24"/>
                </a:solidFill>
                <a:latin typeface="Aptos"/>
              </a:rPr>
              <a:t>Codex 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2697480"/>
            <a:ext cx="39319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A1F24"/>
                </a:solidFill>
                <a:latin typeface="Aptos"/>
              </a:rPr>
              <a:t>agent terminal orienté repo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246120"/>
            <a:ext cx="3840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5E656B"/>
                </a:solidFill>
                <a:latin typeface="Aptos"/>
              </a:rPr>
              <a:t>• analyse plusieurs fichiers
• lance scripts et vérifications
• enchaîne le workflow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28800" y="4892040"/>
            <a:ext cx="8549640" cy="658368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1680" y="5120640"/>
            <a:ext cx="8183879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215472"/>
                </a:solidFill>
                <a:latin typeface="Aptos"/>
              </a:rPr>
              <a:t>Le plugin fait gagner du temps. L’agent fait gagner des étapes de travail.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6035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215472"/>
                </a:solidFill>
                <a:latin typeface="Aptos"/>
              </a:rPr>
              <a:t>9. Quand utiliser quoi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117043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E656B"/>
                </a:solidFill>
                <a:latin typeface="Aptos"/>
              </a:rPr>
              <a:t>Même équipe, mêmes modèles, mais pas le même niveau d’orchestration.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9344"/>
            <a:ext cx="1645920" cy="45720"/>
          </a:xfrm>
          <a:prstGeom prst="rect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2148840"/>
            <a:ext cx="4206240" cy="2651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086600" y="2148840"/>
            <a:ext cx="4206240" cy="2651760"/>
          </a:xfrm>
          <a:prstGeom prst="roundRect">
            <a:avLst/>
          </a:prstGeom>
          <a:solidFill>
            <a:srgbClr val="F9F3EC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542032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215472"/>
                </a:solidFill>
                <a:latin typeface="Aptos"/>
              </a:rPr>
              <a:t>Code Companion V3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15468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1A1F24"/>
                </a:solidFill>
                <a:latin typeface="Aptos"/>
              </a:rPr>
              <a:t>question locale
édition rapide
itération dans l’IDE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42631" y="2542032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BF5A24"/>
                </a:solidFill>
                <a:latin typeface="Aptos"/>
              </a:rPr>
              <a:t>Codex CLI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315468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1A1F24"/>
                </a:solidFill>
                <a:latin typeface="Aptos"/>
              </a:rPr>
              <a:t>workflow complet
tâche longue
validation et enchaînement</a:t>
            </a:r>
          </a:p>
        </p:txBody>
      </p:sp>
      <p:sp>
        <p:nvSpPr>
          <p:cNvPr id="11" name="Chevron 10"/>
          <p:cNvSpPr/>
          <p:nvPr/>
        </p:nvSpPr>
        <p:spPr>
          <a:xfrm>
            <a:off x="5394960" y="3063240"/>
            <a:ext cx="1325880" cy="713232"/>
          </a:xfrm>
          <a:prstGeom prst="chevron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694944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215472"/>
                </a:solidFill>
                <a:latin typeface="Aptos"/>
              </a:rPr>
              <a:t>10. À retenir</a:t>
            </a:r>
          </a:p>
        </p:txBody>
      </p:sp>
      <p:sp>
        <p:nvSpPr>
          <p:cNvPr id="3" name="Rectangle 2"/>
          <p:cNvSpPr/>
          <p:nvPr/>
        </p:nvSpPr>
        <p:spPr>
          <a:xfrm>
            <a:off x="749808" y="1627632"/>
            <a:ext cx="1645920" cy="45720"/>
          </a:xfrm>
          <a:prstGeom prst="rect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8680" y="1828800"/>
            <a:ext cx="10378440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38528"/>
            <a:ext cx="97840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17222D"/>
                </a:solidFill>
                <a:latin typeface="Aptos"/>
              </a:rPr>
              <a:t>Le vrai levier de productivité n’est pas le modèle seul.
C’est l’orchestration du travail.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3675887"/>
            <a:ext cx="3154680" cy="15544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3913632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BF5A24"/>
                </a:solidFill>
                <a:latin typeface="Aptos"/>
              </a:rPr>
              <a:t>Prompt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370832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>
                <a:solidFill>
                  <a:srgbClr val="1A1F24"/>
                </a:solidFill>
                <a:latin typeface="Aptos"/>
              </a:rPr>
              <a:t>cadre modèle, contexte
et sortie attendue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3675887"/>
            <a:ext cx="3154680" cy="15544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3913632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BF5A24"/>
                </a:solidFill>
                <a:latin typeface="Aptos"/>
              </a:rPr>
              <a:t>Plugin 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4370832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>
                <a:solidFill>
                  <a:srgbClr val="1A1F24"/>
                </a:solidFill>
                <a:latin typeface="Aptos"/>
              </a:rPr>
              <a:t>accélère l’édition
et l’itération locale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18119" y="3675887"/>
            <a:ext cx="3154680" cy="15544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0999" y="3913632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BF5A24"/>
                </a:solidFill>
                <a:latin typeface="Aptos"/>
              </a:rPr>
              <a:t>Agent multi-skill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0999" y="4370832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>
                <a:solidFill>
                  <a:srgbClr val="1A1F24"/>
                </a:solidFill>
                <a:latin typeface="Aptos"/>
              </a:rPr>
              <a:t>enchaîne workflow,
scripts et vérification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