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1. Le vrai rôle du 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prompt cadre le système d'exécution : modèle, boucle agentique et runtime.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22191" y="1828800"/>
            <a:ext cx="4663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Système cadré par le 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67712"/>
            <a:ext cx="2596896" cy="2944368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72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75887" y="2267712"/>
            <a:ext cx="4480560" cy="2944368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72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85632" y="2267712"/>
            <a:ext cx="3127248" cy="2944368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72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523744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0">
                <a:solidFill>
                  <a:srgbClr val="17222D"/>
                </a:solidFill>
                <a:latin typeface="Aptos"/>
              </a:rPr>
              <a:t>Couche modèle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3054096"/>
            <a:ext cx="1847088" cy="877824"/>
          </a:xfrm>
          <a:prstGeom prst="roundRect">
            <a:avLst/>
          </a:prstGeom>
          <a:solidFill>
            <a:srgbClr val="FAD9B0"/>
          </a:solidFill>
          <a:ln w="15240">
            <a:solidFill>
              <a:srgbClr val="FAD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319272"/>
            <a:ext cx="162763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0">
                <a:solidFill>
                  <a:srgbClr val="17222D"/>
                </a:solidFill>
                <a:latin typeface="Aptos"/>
              </a:rPr>
              <a:t>LLM de base</a:t>
            </a:r>
          </a:p>
        </p:txBody>
      </p:sp>
      <p:sp>
        <p:nvSpPr>
          <p:cNvPr id="12" name="Chevron 11"/>
          <p:cNvSpPr/>
          <p:nvPr/>
        </p:nvSpPr>
        <p:spPr>
          <a:xfrm rot="5400000">
            <a:off x="1773936" y="3968496"/>
            <a:ext cx="292608" cy="292608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4315968"/>
            <a:ext cx="1847088" cy="877824"/>
          </a:xfrm>
          <a:prstGeom prst="roundRect">
            <a:avLst/>
          </a:prstGeom>
          <a:solidFill>
            <a:srgbClr val="FAD9B0"/>
          </a:solidFill>
          <a:ln w="15240">
            <a:solidFill>
              <a:srgbClr val="FAD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4535424"/>
            <a:ext cx="16276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0">
                <a:solidFill>
                  <a:srgbClr val="17222D"/>
                </a:solidFill>
                <a:latin typeface="Aptos"/>
              </a:rPr>
              <a:t>LLM
reasoning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2523744"/>
            <a:ext cx="24871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0">
                <a:solidFill>
                  <a:srgbClr val="17222D"/>
                </a:solidFill>
                <a:latin typeface="Aptos"/>
              </a:rPr>
              <a:t>Boucle agentique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87952" y="3401568"/>
            <a:ext cx="1463040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87952" y="3547872"/>
            <a:ext cx="1463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7222D"/>
                </a:solidFill>
                <a:latin typeface="Aptos"/>
              </a:rPr>
              <a:t>Inspecte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3401568"/>
            <a:ext cx="1463040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3547872"/>
            <a:ext cx="1463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7222D"/>
                </a:solidFill>
                <a:latin typeface="Aptos"/>
              </a:rPr>
              <a:t>Choisit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87952" y="4498848"/>
            <a:ext cx="1463040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87952" y="4645152"/>
            <a:ext cx="1463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7222D"/>
                </a:solidFill>
                <a:latin typeface="Aptos"/>
              </a:rPr>
              <a:t>Observe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4498848"/>
            <a:ext cx="1463040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44768" y="4645152"/>
            <a:ext cx="1463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7222D"/>
                </a:solidFill>
                <a:latin typeface="Aptos"/>
              </a:rPr>
              <a:t>Agit</a:t>
            </a:r>
          </a:p>
        </p:txBody>
      </p:sp>
      <p:sp>
        <p:nvSpPr>
          <p:cNvPr id="24" name="Chevron 23"/>
          <p:cNvSpPr/>
          <p:nvPr/>
        </p:nvSpPr>
        <p:spPr>
          <a:xfrm>
            <a:off x="5742432" y="3657600"/>
            <a:ext cx="201168" cy="128016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 rot="5400000">
            <a:off x="6803136" y="3977639"/>
            <a:ext cx="128016" cy="201168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evron 25"/>
          <p:cNvSpPr/>
          <p:nvPr/>
        </p:nvSpPr>
        <p:spPr>
          <a:xfrm rot="10800000">
            <a:off x="5742432" y="4718304"/>
            <a:ext cx="201168" cy="128016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evron 26"/>
          <p:cNvSpPr/>
          <p:nvPr/>
        </p:nvSpPr>
        <p:spPr>
          <a:xfrm rot="16200000">
            <a:off x="4956048" y="3977639"/>
            <a:ext cx="128016" cy="201168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50224" y="2505456"/>
            <a:ext cx="276148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7222D"/>
                </a:solidFill>
                <a:latin typeface="Aptos"/>
              </a:rPr>
              <a:t>Cadre d'exécution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41664" y="3200400"/>
            <a:ext cx="1316736" cy="475488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41664" y="3282696"/>
            <a:ext cx="131673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7222D"/>
                </a:solidFill>
                <a:latin typeface="Aptos"/>
              </a:rPr>
              <a:t>Contexte
repo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68128" y="3200400"/>
            <a:ext cx="1316736" cy="475488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68128" y="3282696"/>
            <a:ext cx="131673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7222D"/>
                </a:solidFill>
                <a:latin typeface="Aptos"/>
              </a:rPr>
              <a:t>Outils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41664" y="3886200"/>
            <a:ext cx="1316736" cy="475488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41664" y="3968496"/>
            <a:ext cx="131673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7222D"/>
                </a:solidFill>
                <a:latin typeface="Aptos"/>
              </a:rPr>
              <a:t>Permissions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68128" y="3886200"/>
            <a:ext cx="1316736" cy="475488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68128" y="3968496"/>
            <a:ext cx="131673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7222D"/>
                </a:solidFill>
                <a:latin typeface="Aptos"/>
              </a:rPr>
              <a:t>Mémoire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41664" y="4572000"/>
            <a:ext cx="1316736" cy="475488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41664" y="4654296"/>
            <a:ext cx="131673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7222D"/>
                </a:solidFill>
                <a:latin typeface="Aptos"/>
              </a:rPr>
              <a:t>Cache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68128" y="4572000"/>
            <a:ext cx="1316736" cy="475488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68128" y="4654296"/>
            <a:ext cx="131673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7222D"/>
                </a:solidFill>
                <a:latin typeface="Aptos"/>
              </a:rPr>
              <a:t>Exécution</a:t>
            </a:r>
          </a:p>
        </p:txBody>
      </p:sp>
      <p:sp>
        <p:nvSpPr>
          <p:cNvPr id="41" name="Chevron 40"/>
          <p:cNvSpPr/>
          <p:nvPr/>
        </p:nvSpPr>
        <p:spPr>
          <a:xfrm>
            <a:off x="3346704" y="3803904"/>
            <a:ext cx="219456" cy="201168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evron 41"/>
          <p:cNvSpPr/>
          <p:nvPr/>
        </p:nvSpPr>
        <p:spPr>
          <a:xfrm>
            <a:off x="8211312" y="3803904"/>
            <a:ext cx="219456" cy="201168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87552" y="5522976"/>
            <a:ext cx="10149840" cy="640080"/>
          </a:xfrm>
          <a:prstGeom prst="roundRect">
            <a:avLst/>
          </a:prstGeom>
          <a:solidFill>
            <a:srgbClr val="F4ECE0"/>
          </a:solidFill>
          <a:ln w="15240">
            <a:solidFill>
              <a:srgbClr val="F4E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25296" y="5696712"/>
            <a:ext cx="9692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BF5A24"/>
                </a:solidFill>
                <a:latin typeface="Aptos"/>
              </a:rPr>
              <a:t>Le Prompt Engineering cadre la boucle, les outils et le bon niveau de contexte.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2. Le landscape agentique en 4 couches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modèle calcule. Le framework organise. L’agent agit. L’UI expose.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86384" y="1993392"/>
            <a:ext cx="2468880" cy="2514600"/>
          </a:xfrm>
          <a:prstGeom prst="roundRect">
            <a:avLst/>
          </a:prstGeom>
          <a:solidFill>
            <a:srgbClr val="EAF3F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80160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MODÈLE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produit texte,
code, plan,
résumé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9312" y="1993392"/>
            <a:ext cx="2468880" cy="2514600"/>
          </a:xfrm>
          <a:prstGeom prst="roundRect">
            <a:avLst/>
          </a:prstGeom>
          <a:solidFill>
            <a:srgbClr val="F0ECFB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33088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2192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structure état,
outils, mémoire,
routing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993392"/>
            <a:ext cx="2468880" cy="2514600"/>
          </a:xfrm>
          <a:prstGeom prst="roundRect">
            <a:avLst/>
          </a:prstGeom>
          <a:solidFill>
            <a:srgbClr val="F9EEE4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86016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6016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choisit,
enchaîne,
vérifie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45167" y="1993392"/>
            <a:ext cx="2468880" cy="2514600"/>
          </a:xfrm>
          <a:prstGeom prst="roundRect">
            <a:avLst/>
          </a:prstGeom>
          <a:solidFill>
            <a:srgbClr val="FCF3EA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38943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38943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UI / 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7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rend le système
visible et
pilotable</a:t>
            </a:r>
          </a:p>
        </p:txBody>
      </p:sp>
      <p:sp>
        <p:nvSpPr>
          <p:cNvPr id="21" name="Chevron 20"/>
          <p:cNvSpPr/>
          <p:nvPr/>
        </p:nvSpPr>
        <p:spPr>
          <a:xfrm>
            <a:off x="3310128" y="3072384"/>
            <a:ext cx="274320" cy="25603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6163056" y="3072384"/>
            <a:ext cx="274320" cy="25603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9015984" y="3072384"/>
            <a:ext cx="274320" cy="25603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6112" y="4535424"/>
            <a:ext cx="4800600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690872"/>
            <a:ext cx="444398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Message clé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4946904"/>
            <a:ext cx="4443984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215472"/>
                </a:solidFill>
                <a:latin typeface="Aptos"/>
              </a:rPr>
              <a:t>Le gain visible n’est pas dans la couche modèle seule.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4535424"/>
            <a:ext cx="5285232" cy="987552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4690872"/>
            <a:ext cx="486460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Cas AGILab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4946904"/>
            <a:ext cx="48646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215472"/>
                </a:solidFill>
                <a:latin typeface="Aptos"/>
              </a:rPr>
              <a:t>AGENTS.md + skills + scripts renforcent surtout la couche agent.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3. La montée réelle de productivité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Même modèle. Trois niveaux de valeur très différents.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901952"/>
            <a:ext cx="292608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416" y="2066544"/>
            <a:ext cx="1078992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2093976"/>
            <a:ext cx="10789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5A24"/>
                </a:solidFill>
                <a:latin typeface="Aptos"/>
              </a:rPr>
              <a:t>NIVEAU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2468880"/>
            <a:ext cx="24871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Chatbot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889504"/>
            <a:ext cx="2487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91840"/>
            <a:ext cx="230428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E656B"/>
                </a:solidFill>
                <a:latin typeface="Aptos"/>
              </a:rPr>
              <a:t>• copier-coller
• tests manuels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3877056"/>
            <a:ext cx="1463040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3904488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BF5A24"/>
                </a:solidFill>
                <a:latin typeface="Aptos"/>
              </a:rPr>
              <a:t>GAIN LIMITÉ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05072" y="1901952"/>
            <a:ext cx="2926080" cy="2468880"/>
          </a:xfrm>
          <a:prstGeom prst="roundRect">
            <a:avLst/>
          </a:prstGeom>
          <a:solidFill>
            <a:srgbClr val="FFFAF4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24528" y="2066544"/>
            <a:ext cx="1078992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24528" y="2093976"/>
            <a:ext cx="10789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5A24"/>
                </a:solidFill>
                <a:latin typeface="Aptos"/>
              </a:rPr>
              <a:t>NIVEAU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2468880"/>
            <a:ext cx="24871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Plugin 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2889504"/>
            <a:ext cx="2487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édite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291840"/>
            <a:ext cx="230428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E656B"/>
                </a:solidFill>
                <a:latin typeface="Aptos"/>
              </a:rPr>
              <a:t>• contexte local
• itération rapide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36592" y="3877056"/>
            <a:ext cx="1463040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6592" y="3904488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BF5A24"/>
                </a:solidFill>
                <a:latin typeface="Aptos"/>
              </a:rPr>
              <a:t>GAIN MOYEN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87184" y="1901952"/>
            <a:ext cx="3291840" cy="2468880"/>
          </a:xfrm>
          <a:prstGeom prst="roundRect">
            <a:avLst/>
          </a:prstGeom>
          <a:solidFill>
            <a:srgbClr val="FFF8EE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06640" y="2066544"/>
            <a:ext cx="1078992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2093976"/>
            <a:ext cx="10789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5A24"/>
                </a:solidFill>
                <a:latin typeface="Aptos"/>
              </a:rPr>
              <a:t>NIVEAU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468880"/>
            <a:ext cx="285292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215472"/>
                </a:solidFill>
                <a:latin typeface="Aptos"/>
              </a:rPr>
              <a:t>Agent multi-skill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889504"/>
            <a:ext cx="28529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orchestre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3291840"/>
            <a:ext cx="267004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E656B"/>
                </a:solidFill>
                <a:latin typeface="Aptos"/>
              </a:rPr>
              <a:t>• repo + skills
• scripts + vérification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1584" y="3877056"/>
            <a:ext cx="1463040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01584" y="3904488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BF5A24"/>
                </a:solidFill>
                <a:latin typeface="Aptos"/>
              </a:rPr>
              <a:t>GAIN FORT</a:t>
            </a:r>
          </a:p>
        </p:txBody>
      </p:sp>
      <p:sp>
        <p:nvSpPr>
          <p:cNvPr id="29" name="Chevron 28"/>
          <p:cNvSpPr/>
          <p:nvPr/>
        </p:nvSpPr>
        <p:spPr>
          <a:xfrm>
            <a:off x="1371600" y="4736592"/>
            <a:ext cx="9052560" cy="384048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17320" y="5157216"/>
            <a:ext cx="89611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BF5A24"/>
                </a:solidFill>
                <a:latin typeface="Aptos"/>
              </a:rPr>
              <a:t>Plus on retire l’orchestration à l’humain, plus le gain change d’échelle.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4. Pourquoi AGILab est un bon cas d’école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Dans un repo riche, le coût d’orchestration devient visible immédiatement.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2148840"/>
            <a:ext cx="2560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871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3063240"/>
            <a:ext cx="22402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A1F24"/>
                </a:solidFill>
                <a:latin typeface="Aptos"/>
              </a:rPr>
              <a:t>corriger une page
ou un formulaire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2148840"/>
            <a:ext cx="2560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24871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Guidage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5112" y="3063240"/>
            <a:ext cx="22402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A1F24"/>
                </a:solidFill>
                <a:latin typeface="Aptos"/>
              </a:rPr>
              <a:t>prompt
AGENTS.md
skills du repo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2148840"/>
            <a:ext cx="2560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24871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Sortie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063240"/>
            <a:ext cx="22402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A1F24"/>
                </a:solidFill>
                <a:latin typeface="Aptos"/>
              </a:rPr>
              <a:t>patch plus fiable
et validation ciblée</a:t>
            </a:r>
          </a:p>
        </p:txBody>
      </p:sp>
      <p:sp>
        <p:nvSpPr>
          <p:cNvPr id="14" name="Chevron 13"/>
          <p:cNvSpPr/>
          <p:nvPr/>
        </p:nvSpPr>
        <p:spPr>
          <a:xfrm>
            <a:off x="3520440" y="2953512"/>
            <a:ext cx="384048" cy="34747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6812280" y="2953512"/>
            <a:ext cx="384048" cy="34747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608576"/>
            <a:ext cx="10058400" cy="7680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791456"/>
            <a:ext cx="96012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BF5A24"/>
                </a:solidFill>
                <a:latin typeface="Aptos"/>
              </a:rPr>
              <a:t>AGILab montre bien où un agent apporte de la valeur : il rappelle comment bien travailler dans ce repo.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486400"/>
            <a:ext cx="10058400" cy="6766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650992"/>
            <a:ext cx="9509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15472"/>
                </a:solidFill>
                <a:latin typeface="Aptos"/>
              </a:rPr>
              <a:t>Benchmark lisible : PandasWorker = process, PolarsWorker = threads, même workload, exécution rendue explicite.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5. Pourquoi Codex CLI devient performant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Son intérêt : agir avec le bon contexte, pas tout lire ni tout improviser.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86384" y="2359152"/>
            <a:ext cx="2267712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0784" y="1993392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2020824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788920"/>
            <a:ext cx="206654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A1F24"/>
                </a:solidFill>
                <a:latin typeface="Aptos"/>
              </a:rPr>
              <a:t>métadonnées repo</a:t>
            </a:r>
          </a:p>
        </p:txBody>
      </p:sp>
      <p:sp>
        <p:nvSpPr>
          <p:cNvPr id="9" name="Chevron 8"/>
          <p:cNvSpPr/>
          <p:nvPr/>
        </p:nvSpPr>
        <p:spPr>
          <a:xfrm>
            <a:off x="3227832" y="2852928"/>
            <a:ext cx="274320" cy="201168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75303" y="2359152"/>
            <a:ext cx="2267712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9703" y="1993392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9703" y="2020824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7" y="2788920"/>
            <a:ext cx="206654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A1F24"/>
                </a:solidFill>
                <a:latin typeface="Aptos"/>
              </a:rPr>
              <a:t>SKILL.md</a:t>
            </a:r>
          </a:p>
        </p:txBody>
      </p:sp>
      <p:sp>
        <p:nvSpPr>
          <p:cNvPr id="14" name="Chevron 13"/>
          <p:cNvSpPr/>
          <p:nvPr/>
        </p:nvSpPr>
        <p:spPr>
          <a:xfrm>
            <a:off x="6016752" y="2852928"/>
            <a:ext cx="274320" cy="201168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64224" y="2359152"/>
            <a:ext cx="2267712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278624" y="1993392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78624" y="2020824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788920"/>
            <a:ext cx="206654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A1F24"/>
                </a:solidFill>
                <a:latin typeface="Aptos"/>
              </a:rPr>
              <a:t>scripts utiles</a:t>
            </a:r>
          </a:p>
        </p:txBody>
      </p:sp>
      <p:sp>
        <p:nvSpPr>
          <p:cNvPr id="19" name="Chevron 18"/>
          <p:cNvSpPr/>
          <p:nvPr/>
        </p:nvSpPr>
        <p:spPr>
          <a:xfrm>
            <a:off x="8805672" y="2852928"/>
            <a:ext cx="274320" cy="201168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53143" y="2359152"/>
            <a:ext cx="2267712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67543" y="1993392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67543" y="2020824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9447" y="2788920"/>
            <a:ext cx="206654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A1F24"/>
                </a:solidFill>
                <a:latin typeface="Aptos"/>
              </a:rPr>
              <a:t>exécution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4590288"/>
            <a:ext cx="10012680" cy="749808"/>
          </a:xfrm>
          <a:prstGeom prst="roundRect">
            <a:avLst/>
          </a:prstGeom>
          <a:solidFill>
            <a:srgbClr val="F4ECE0"/>
          </a:solidFill>
          <a:ln w="15240">
            <a:solidFill>
              <a:srgbClr val="F4E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8448" y="4800600"/>
            <a:ext cx="9509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Progressive disclosure : Codex n’ouvre que ce qui est utile, au moment utile.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6. Ce qu’un skill apporte vraiment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skill transforme une tâche vague en workflow reproductible.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2084831"/>
            <a:ext cx="3063240" cy="2606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395728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scripts/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2852928"/>
            <a:ext cx="1463040" cy="365760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8488" y="288036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exécute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456432"/>
            <a:ext cx="2514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CLI déterministe
run_eval.py
collect_metrics.py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084831"/>
            <a:ext cx="3063240" cy="2606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395728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references/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2852928"/>
            <a:ext cx="1463040" cy="365760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288036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cadre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456432"/>
            <a:ext cx="2514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protocoles
checklists
métriques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11312" y="2084831"/>
            <a:ext cx="3063240" cy="2606040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2395728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assets/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8552" y="2852928"/>
            <a:ext cx="1463040" cy="365760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88552" y="288036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fournit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3456432"/>
            <a:ext cx="2514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templates
exemples d’input
ressources locales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7. Pourquoi Codex ne met pas les skills à jour tout seul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Plus d’autonomie ne veut pas dire réécriture silencieuse du repo.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057400"/>
            <a:ext cx="457200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88720" y="2331720"/>
            <a:ext cx="1554480" cy="384048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59152"/>
            <a:ext cx="1554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AUTONOMIE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88036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215472"/>
                </a:solidFill>
                <a:latin typeface="Aptos"/>
              </a:rPr>
              <a:t>oui pour lire,
choisir, lancer et vérifier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2057400"/>
            <a:ext cx="4572000" cy="2468880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31152" y="2331720"/>
            <a:ext cx="2148840" cy="384048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1152" y="2359152"/>
            <a:ext cx="2148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RÉÉCRITURE SILENCIEUSE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2880360"/>
            <a:ext cx="39776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215472"/>
                </a:solidFill>
                <a:latin typeface="Aptos"/>
              </a:rPr>
              <a:t>non pour modifier seul
les règles du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56048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Pourquoi : pas de dérive silencieuse, pas de surprise côté repo, amélioration volontaire.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8. Code Companion V3 vs Codex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plugin fait gagner du temps dans l’IDE. L’agent fait gagner des étapes de travail.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1920240"/>
            <a:ext cx="4709160" cy="27614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04288"/>
            <a:ext cx="4160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15472"/>
                </a:solidFill>
                <a:latin typeface="Aptos"/>
              </a:rPr>
              <a:t>Code Companion V3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A1F24"/>
                </a:solidFill>
                <a:latin typeface="Aptos"/>
              </a:rPr>
              <a:t>assistant IDE sécurisé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3182112"/>
            <a:ext cx="3840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E656B"/>
                </a:solidFill>
                <a:latin typeface="Aptos"/>
              </a:rPr>
              <a:t>• édition locale rapide
• bon pour itérer
• l’humain orchestre encore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20240"/>
            <a:ext cx="4709160" cy="2761488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304288"/>
            <a:ext cx="4160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BF5A24"/>
                </a:solidFill>
                <a:latin typeface="Aptos"/>
              </a:rPr>
              <a:t>Codex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697480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A1F24"/>
                </a:solidFill>
                <a:latin typeface="Aptos"/>
              </a:rPr>
              <a:t>agent terminal orienté repo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182112"/>
            <a:ext cx="3840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E656B"/>
                </a:solidFill>
                <a:latin typeface="Aptos"/>
              </a:rPr>
              <a:t>• analyse plusieurs fichiers
• lance scripts et vérifications
• enchaîne le workflow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992624"/>
            <a:ext cx="10469880" cy="694944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5230368"/>
            <a:ext cx="10058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215472"/>
                </a:solidFill>
                <a:latin typeface="Aptos"/>
              </a:rPr>
              <a:t>Le plugin fait gagner du temps. L’agent fait gagner des étapes de travail.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9. Quand utiliser quoi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Même équipe, mêmes modèles, mais pas le même niveau d’orchestration.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48840"/>
            <a:ext cx="4206240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86600" y="2148840"/>
            <a:ext cx="4206240" cy="2651760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420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15472"/>
                </a:solidFill>
                <a:latin typeface="Aptos"/>
              </a:rPr>
              <a:t>Code Companion V3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54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A1F24"/>
                </a:solidFill>
                <a:latin typeface="Aptos"/>
              </a:rPr>
              <a:t>question locale
édition rapide
itération dans l’IDE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42631" y="25420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Codex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3154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A1F24"/>
                </a:solidFill>
                <a:latin typeface="Aptos"/>
              </a:rPr>
              <a:t>workflow complet
tâche longue
validation et enchaînement</a:t>
            </a:r>
          </a:p>
        </p:txBody>
      </p:sp>
      <p:sp>
        <p:nvSpPr>
          <p:cNvPr id="11" name="Chevron 10"/>
          <p:cNvSpPr/>
          <p:nvPr/>
        </p:nvSpPr>
        <p:spPr>
          <a:xfrm>
            <a:off x="5394960" y="3063240"/>
            <a:ext cx="1325880" cy="71323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94944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10. À retenir</a:t>
            </a:r>
          </a:p>
        </p:txBody>
      </p:sp>
      <p:sp>
        <p:nvSpPr>
          <p:cNvPr id="3" name="Rectangle 2"/>
          <p:cNvSpPr/>
          <p:nvPr/>
        </p:nvSpPr>
        <p:spPr>
          <a:xfrm>
            <a:off x="749808" y="1627632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1828800"/>
            <a:ext cx="10378440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38528"/>
            <a:ext cx="9784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7222D"/>
                </a:solidFill>
                <a:latin typeface="Aptos"/>
              </a:rPr>
              <a:t>Le vrai levier de productivité n’est pas le modèle seul.
C’est l’orchestration du travail.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675887"/>
            <a:ext cx="315468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9136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Prompt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37083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1F24"/>
                </a:solidFill>
                <a:latin typeface="Aptos"/>
              </a:rPr>
              <a:t>cadre modèle, contexte
et sortie attendue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675887"/>
            <a:ext cx="315468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39136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Plugin 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437083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1F24"/>
                </a:solidFill>
                <a:latin typeface="Aptos"/>
              </a:rPr>
              <a:t>accélère l’édition
et l’itération locale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19" y="3675887"/>
            <a:ext cx="315468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0999" y="39136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Agent multi-skill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0999" y="437083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1F24"/>
                </a:solidFill>
                <a:latin typeface="Aptos"/>
              </a:rPr>
              <a:t>enchaîne workflow,
scripts et vérification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