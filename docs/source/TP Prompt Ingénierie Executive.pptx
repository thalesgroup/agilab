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1. Le vrai rôle du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Il cadre un coding harness : modèle, agent loop et runtime supports.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847088"/>
            <a:ext cx="3566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8222C"/>
                </a:solidFill>
                <a:latin typeface="Aptos"/>
              </a:rPr>
              <a:t>Coding harness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2212848"/>
            <a:ext cx="2487168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2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75887" y="2212848"/>
            <a:ext cx="4407408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2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0" y="2212848"/>
            <a:ext cx="2907792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2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975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18222C"/>
                </a:solidFill>
                <a:latin typeface="Aptos"/>
              </a:rPr>
              <a:t>Model family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5" y="3054096"/>
            <a:ext cx="1755648" cy="804672"/>
          </a:xfrm>
          <a:prstGeom prst="roundRect">
            <a:avLst/>
          </a:prstGeom>
          <a:solidFill>
            <a:srgbClr val="FAD9B0"/>
          </a:solidFill>
          <a:ln w="15240">
            <a:solidFill>
              <a:srgbClr val="FAD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2841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8222C"/>
                </a:solidFill>
                <a:latin typeface="Aptos"/>
              </a:rPr>
              <a:t>Base LLM</a:t>
            </a:r>
          </a:p>
        </p:txBody>
      </p:sp>
      <p:sp>
        <p:nvSpPr>
          <p:cNvPr id="12" name="Chevron 11"/>
          <p:cNvSpPr/>
          <p:nvPr/>
        </p:nvSpPr>
        <p:spPr>
          <a:xfrm rot="5400000">
            <a:off x="1783080" y="3913632"/>
            <a:ext cx="256032" cy="256032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5" y="4224528"/>
            <a:ext cx="1755648" cy="804672"/>
          </a:xfrm>
          <a:prstGeom prst="roundRect">
            <a:avLst/>
          </a:prstGeom>
          <a:solidFill>
            <a:srgbClr val="FAD9B0"/>
          </a:solidFill>
          <a:ln w="15240">
            <a:solidFill>
              <a:srgbClr val="FAD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25696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8222C"/>
                </a:solidFill>
                <a:latin typeface="Aptos"/>
              </a:rPr>
              <a:t>Reasoning
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487168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18222C"/>
                </a:solidFill>
                <a:latin typeface="Aptos"/>
              </a:rPr>
              <a:t>Agent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78224" y="3346704"/>
            <a:ext cx="1417320" cy="512064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3483864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8222C"/>
                </a:solidFill>
                <a:latin typeface="Aptos"/>
              </a:rPr>
              <a:t>Inspect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3346704"/>
            <a:ext cx="1417320" cy="512064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3483864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8222C"/>
                </a:solidFill>
                <a:latin typeface="Aptos"/>
              </a:rPr>
              <a:t>Choose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78224" y="4352544"/>
            <a:ext cx="1417320" cy="512064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8224" y="4489704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8222C"/>
                </a:solidFill>
                <a:latin typeface="Aptos"/>
              </a:rPr>
              <a:t>Observe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4352544"/>
            <a:ext cx="1417320" cy="512064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4489704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8222C"/>
                </a:solidFill>
                <a:latin typeface="Aptos"/>
              </a:rPr>
              <a:t>Act</a:t>
            </a:r>
          </a:p>
        </p:txBody>
      </p:sp>
      <p:sp>
        <p:nvSpPr>
          <p:cNvPr id="24" name="Chevron 23"/>
          <p:cNvSpPr/>
          <p:nvPr/>
        </p:nvSpPr>
        <p:spPr>
          <a:xfrm>
            <a:off x="5532120" y="3529584"/>
            <a:ext cx="219456" cy="146304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 rot="5400000">
            <a:off x="6519672" y="3895344"/>
            <a:ext cx="146304" cy="219456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 rot="10800000">
            <a:off x="5532120" y="4572000"/>
            <a:ext cx="219456" cy="146304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 rot="16200000">
            <a:off x="4690872" y="3858768"/>
            <a:ext cx="146304" cy="219456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487168"/>
            <a:ext cx="23408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8222C"/>
                </a:solidFill>
                <a:latin typeface="Aptos"/>
              </a:rPr>
              <a:t>Runtime supports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51392" y="3255264"/>
            <a:ext cx="1060704" cy="438912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1392" y="3364992"/>
            <a:ext cx="10607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8222C"/>
                </a:solidFill>
                <a:latin typeface="Aptos"/>
              </a:rPr>
              <a:t>Repo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40" y="3255264"/>
            <a:ext cx="1060704" cy="438912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3364992"/>
            <a:ext cx="10607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8222C"/>
                </a:solidFill>
                <a:latin typeface="Aptos"/>
              </a:rPr>
              <a:t>Tools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51392" y="3968496"/>
            <a:ext cx="1060704" cy="438912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4078224"/>
            <a:ext cx="10607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8222C"/>
                </a:solidFill>
                <a:latin typeface="Aptos"/>
              </a:rPr>
              <a:t>Permissions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3968496"/>
            <a:ext cx="1060704" cy="438912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4078224"/>
            <a:ext cx="10607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8222C"/>
                </a:solidFill>
                <a:latin typeface="Aptos"/>
              </a:rPr>
              <a:t>Memory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51392" y="4681728"/>
            <a:ext cx="1060704" cy="438912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1392" y="4791456"/>
            <a:ext cx="10607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8222C"/>
                </a:solidFill>
                <a:latin typeface="Aptos"/>
              </a:rPr>
              <a:t>Cache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4681728"/>
            <a:ext cx="1060704" cy="438912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4791456"/>
            <a:ext cx="10607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8222C"/>
                </a:solidFill>
                <a:latin typeface="Aptos"/>
              </a:rPr>
              <a:t>Execution</a:t>
            </a:r>
          </a:p>
        </p:txBody>
      </p:sp>
      <p:sp>
        <p:nvSpPr>
          <p:cNvPr id="41" name="Chevron 40"/>
          <p:cNvSpPr/>
          <p:nvPr/>
        </p:nvSpPr>
        <p:spPr>
          <a:xfrm>
            <a:off x="3255264" y="3675887"/>
            <a:ext cx="274320" cy="219456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8229600" y="3675887"/>
            <a:ext cx="274320" cy="219456"/>
          </a:xfrm>
          <a:prstGeom prst="chevron">
            <a:avLst/>
          </a:prstGeom>
          <a:solidFill>
            <a:srgbClr val="18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2. Le landscape agentique en 4 couches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Le modèle calcule. Le framework organise. L’agent agit. L’UI expose.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2148840"/>
            <a:ext cx="2468880" cy="2240280"/>
          </a:xfrm>
          <a:prstGeom prst="roundRect">
            <a:avLst/>
          </a:prstGeom>
          <a:solidFill>
            <a:srgbClr val="EAF3F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1872" y="2404872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432304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6324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222C"/>
                </a:solidFill>
                <a:latin typeface="Aptos"/>
              </a:rPr>
              <a:t>génère
texte ou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2148840"/>
            <a:ext cx="2468880" cy="2240280"/>
          </a:xfrm>
          <a:prstGeom prst="roundRect">
            <a:avLst/>
          </a:prstGeom>
          <a:solidFill>
            <a:srgbClr val="F0ECFB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404872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432304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306324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222C"/>
                </a:solidFill>
                <a:latin typeface="Aptos"/>
              </a:rPr>
              <a:t>structure état
et outils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148840"/>
            <a:ext cx="2468880" cy="2240280"/>
          </a:xfrm>
          <a:prstGeom prst="roundRect">
            <a:avLst/>
          </a:prstGeom>
          <a:solidFill>
            <a:srgbClr val="F9EEE4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67728" y="2404872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432304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6324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222C"/>
                </a:solidFill>
                <a:latin typeface="Aptos"/>
              </a:rPr>
              <a:t>choisit,
enchaîne,
vérifie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5167" y="2148840"/>
            <a:ext cx="2468880" cy="2240280"/>
          </a:xfrm>
          <a:prstGeom prst="roundRect">
            <a:avLst/>
          </a:prstGeom>
          <a:solidFill>
            <a:srgbClr val="FCF3EA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0655" y="2404872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0655" y="2432304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UI /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7" y="306324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222C"/>
                </a:solidFill>
                <a:latin typeface="Aptos"/>
              </a:rPr>
              <a:t>rend l’action
visible</a:t>
            </a:r>
          </a:p>
        </p:txBody>
      </p:sp>
      <p:sp>
        <p:nvSpPr>
          <p:cNvPr id="21" name="Chevron 20"/>
          <p:cNvSpPr/>
          <p:nvPr/>
        </p:nvSpPr>
        <p:spPr>
          <a:xfrm>
            <a:off x="2971800" y="3154680"/>
            <a:ext cx="411480" cy="32004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5824728" y="3154680"/>
            <a:ext cx="411480" cy="32004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677656" y="3154680"/>
            <a:ext cx="411480" cy="32004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78992" y="4681728"/>
            <a:ext cx="100584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901184"/>
            <a:ext cx="9555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15472"/>
                </a:solidFill>
                <a:latin typeface="Aptos"/>
              </a:rPr>
              <a:t>Dans AGILab, AGENTS.md + skills + scripts renforcent surtout la couche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3. Pourquoi AGILab est un bon cas d’école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Dans un repo riche, le coût d’orchestration devient visible tout de suite.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6517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15184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5472"/>
                </a:solidFill>
                <a:latin typeface="Aptos"/>
              </a:rPr>
              <a:t>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182112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C1F23"/>
                </a:solidFill>
                <a:latin typeface="Aptos"/>
              </a:rPr>
              <a:t>corriger une page
sans casser le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286000"/>
            <a:ext cx="26517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2615184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5472"/>
                </a:solidFill>
                <a:latin typeface="Aptos"/>
              </a:rPr>
              <a:t>Guidage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3182112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C1F23"/>
                </a:solidFill>
                <a:latin typeface="Aptos"/>
              </a:rPr>
              <a:t>AGENTS.md
+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26517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615184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5472"/>
                </a:solidFill>
                <a:latin typeface="Aptos"/>
              </a:rPr>
              <a:t>Sortie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3182112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C1F23"/>
                </a:solidFill>
                <a:latin typeface="Aptos"/>
              </a:rPr>
              <a:t>patch fiable
et validation ciblée</a:t>
            </a:r>
          </a:p>
        </p:txBody>
      </p:sp>
      <p:sp>
        <p:nvSpPr>
          <p:cNvPr id="14" name="Chevron 13"/>
          <p:cNvSpPr/>
          <p:nvPr/>
        </p:nvSpPr>
        <p:spPr>
          <a:xfrm>
            <a:off x="3886200" y="3154680"/>
            <a:ext cx="411480" cy="32004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589520" y="3154680"/>
            <a:ext cx="411480" cy="32004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800600"/>
            <a:ext cx="101498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029200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15472"/>
                </a:solidFill>
                <a:latin typeface="Aptos"/>
              </a:rPr>
              <a:t>Même workload, benchmark explicite : PandasWorker = process ; PolarsWorker = threads.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4. Pourquoi Codex CLI devient performant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Son intérêt : agir avec le bon contexte, pas tout relire ni tout improviser.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423160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00200" y="2103120"/>
            <a:ext cx="530352" cy="310896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130552"/>
            <a:ext cx="530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F23"/>
                </a:solidFill>
                <a:latin typeface="Aptos"/>
              </a:rPr>
              <a:t>métadonnées</a:t>
            </a:r>
          </a:p>
        </p:txBody>
      </p:sp>
      <p:sp>
        <p:nvSpPr>
          <p:cNvPr id="9" name="Chevron 8"/>
          <p:cNvSpPr/>
          <p:nvPr/>
        </p:nvSpPr>
        <p:spPr>
          <a:xfrm>
            <a:off x="2743200" y="2816352"/>
            <a:ext cx="329184" cy="219456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423160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530352" cy="310896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30552"/>
            <a:ext cx="530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1635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F23"/>
                </a:solidFill>
                <a:latin typeface="Aptos"/>
              </a:rPr>
              <a:t>SKILL.md</a:t>
            </a:r>
          </a:p>
        </p:txBody>
      </p:sp>
      <p:sp>
        <p:nvSpPr>
          <p:cNvPr id="14" name="Chevron 13"/>
          <p:cNvSpPr/>
          <p:nvPr/>
        </p:nvSpPr>
        <p:spPr>
          <a:xfrm>
            <a:off x="5440680" y="2816352"/>
            <a:ext cx="329184" cy="219456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423160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95160" y="2103120"/>
            <a:ext cx="530352" cy="310896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130552"/>
            <a:ext cx="530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1635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F23"/>
                </a:solidFill>
                <a:latin typeface="Aptos"/>
              </a:rPr>
              <a:t>scripts utiles</a:t>
            </a:r>
          </a:p>
        </p:txBody>
      </p:sp>
      <p:sp>
        <p:nvSpPr>
          <p:cNvPr id="19" name="Chevron 18"/>
          <p:cNvSpPr/>
          <p:nvPr/>
        </p:nvSpPr>
        <p:spPr>
          <a:xfrm>
            <a:off x="8138160" y="2816352"/>
            <a:ext cx="329184" cy="219456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2423160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0" y="2103120"/>
            <a:ext cx="530352" cy="310896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130552"/>
            <a:ext cx="530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81635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F23"/>
                </a:solidFill>
                <a:latin typeface="Aptos"/>
              </a:rPr>
              <a:t>exécution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663440"/>
            <a:ext cx="9966960" cy="658368"/>
          </a:xfrm>
          <a:prstGeom prst="roundRect">
            <a:avLst/>
          </a:prstGeom>
          <a:solidFill>
            <a:srgbClr val="F4ECE0"/>
          </a:solidFill>
          <a:ln w="15240">
            <a:solidFill>
              <a:srgbClr val="F4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892040"/>
            <a:ext cx="9418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Il n’ouvre que ce qui est utile, au moment utile.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5. Ce que les skills apportent vraiment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Ils rendent le workflow stable, réutilisable et plus fiable.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30175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8716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F5A24"/>
                </a:solidFill>
                <a:latin typeface="Aptos"/>
              </a:rPr>
              <a:t>scripts/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4208" y="2926080"/>
            <a:ext cx="1508760" cy="347472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95351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exécute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148840"/>
            <a:ext cx="30175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48716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F5A24"/>
                </a:solidFill>
                <a:latin typeface="Aptos"/>
              </a:rPr>
              <a:t>references/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67528" y="2926080"/>
            <a:ext cx="1508760" cy="347472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95351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cadre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48840"/>
            <a:ext cx="3017520" cy="2194560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8716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F5A24"/>
                </a:solidFill>
                <a:latin typeface="Aptos"/>
              </a:rPr>
              <a:t>assets/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2926080"/>
            <a:ext cx="1508760" cy="347472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295351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fournit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6. Pourquoi ils ne sont pas mis à jour automatiquement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Plus d’autonomie ne veut pas dire réécriture silencieuse du repo.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240280"/>
            <a:ext cx="4206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0" y="2240280"/>
            <a:ext cx="4206240" cy="2286000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40280" y="2542032"/>
            <a:ext cx="1691640" cy="365760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2569464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AUTONOMIE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542032"/>
            <a:ext cx="2606040" cy="365760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569464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REÉCRITURE 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546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5472"/>
                </a:solidFill>
                <a:latin typeface="Aptos"/>
              </a:rPr>
              <a:t>oui pour choisir,
lancer et vérifier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1546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5472"/>
                </a:solidFill>
                <a:latin typeface="Aptos"/>
              </a:rPr>
              <a:t>non pour modifier seul
les règles du 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7. Code Companion V3 vs Codex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3444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56B"/>
                </a:solidFill>
                <a:latin typeface="Aptos"/>
              </a:rPr>
              <a:t>Le plugin fait gagner du temps. L’agent fait gagner des étapes de travail.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45720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4203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15472"/>
                </a:solidFill>
                <a:latin typeface="Aptos"/>
              </a:rPr>
              <a:t>Code Companion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18688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C1F23"/>
                </a:solidFill>
                <a:latin typeface="Aptos"/>
              </a:rPr>
              <a:t>édition locale rapide
bon pour itérer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148840"/>
            <a:ext cx="4572000" cy="2331720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254203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BF5A24"/>
                </a:solidFill>
                <a:latin typeface="Aptos"/>
              </a:rPr>
              <a:t>Codex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3218688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C1F23"/>
                </a:solidFill>
                <a:latin typeface="Aptos"/>
              </a:rPr>
              <a:t>scripts + vérifications
enchaîne le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315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8. 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664208"/>
            <a:ext cx="1645920" cy="54864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241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9692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8222C"/>
                </a:solidFill>
                <a:latin typeface="Aptos"/>
              </a:rPr>
              <a:t>Le vrai gain vient de l’orchestration retirée à l’humain.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6576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858768"/>
            <a:ext cx="2596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261104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C1F23"/>
                </a:solidFill>
                <a:latin typeface="Aptos"/>
              </a:rPr>
              <a:t>cadre l’action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576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3858768"/>
            <a:ext cx="2596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4261104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C1F23"/>
                </a:solidFill>
                <a:latin typeface="Aptos"/>
              </a:rPr>
              <a:t>accélère localement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6576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3858768"/>
            <a:ext cx="2596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261104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C1F23"/>
                </a:solidFill>
                <a:latin typeface="Aptos"/>
              </a:rPr>
              <a:t>enchaîne le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