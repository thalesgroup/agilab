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1. Le vrai rôle du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Le prompt cadre le système d'exécution : modèle, boucle agentique et runtime.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22191" y="1828800"/>
            <a:ext cx="46634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7222D"/>
                </a:solidFill>
                <a:latin typeface="Aptos"/>
              </a:rPr>
              <a:t>Système cadré par le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67712"/>
            <a:ext cx="2596896" cy="294436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7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75887" y="2267712"/>
            <a:ext cx="4480560" cy="294436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7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85632" y="2267712"/>
            <a:ext cx="3127248" cy="294436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7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23744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17222D"/>
                </a:solidFill>
                <a:latin typeface="Aptos"/>
              </a:rPr>
              <a:t>Couche modèle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054096"/>
            <a:ext cx="1847088" cy="877824"/>
          </a:xfrm>
          <a:prstGeom prst="roundRect">
            <a:avLst/>
          </a:prstGeom>
          <a:solidFill>
            <a:srgbClr val="FAD9B0"/>
          </a:solidFill>
          <a:ln w="15240">
            <a:solidFill>
              <a:srgbClr val="FAD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19272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7222D"/>
                </a:solidFill>
                <a:latin typeface="Aptos"/>
              </a:rPr>
              <a:t>LLM de base</a:t>
            </a:r>
          </a:p>
        </p:txBody>
      </p:sp>
      <p:sp>
        <p:nvSpPr>
          <p:cNvPr id="12" name="Chevron 11"/>
          <p:cNvSpPr/>
          <p:nvPr/>
        </p:nvSpPr>
        <p:spPr>
          <a:xfrm rot="5400000">
            <a:off x="1773936" y="3968496"/>
            <a:ext cx="292608" cy="292608"/>
          </a:xfrm>
          <a:prstGeom prst="chevron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315968"/>
            <a:ext cx="1847088" cy="877824"/>
          </a:xfrm>
          <a:prstGeom prst="roundRect">
            <a:avLst/>
          </a:prstGeom>
          <a:solidFill>
            <a:srgbClr val="FAD9B0"/>
          </a:solidFill>
          <a:ln w="15240">
            <a:solidFill>
              <a:srgbClr val="FAD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35424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7222D"/>
                </a:solidFill>
                <a:latin typeface="Aptos"/>
              </a:rPr>
              <a:t>LLM
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523744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17222D"/>
                </a:solidFill>
                <a:latin typeface="Aptos"/>
              </a:rPr>
              <a:t>Boucle agentique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3401568"/>
            <a:ext cx="1463040" cy="566928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354787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7222D"/>
                </a:solidFill>
                <a:latin typeface="Aptos"/>
              </a:rPr>
              <a:t>Inspecte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401568"/>
            <a:ext cx="1463040" cy="566928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54787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7222D"/>
                </a:solidFill>
                <a:latin typeface="Aptos"/>
              </a:rPr>
              <a:t>Choisit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87952" y="4498848"/>
            <a:ext cx="1463040" cy="566928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464515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7222D"/>
                </a:solidFill>
                <a:latin typeface="Aptos"/>
              </a:rPr>
              <a:t>Observe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498848"/>
            <a:ext cx="1463040" cy="566928"/>
          </a:xfrm>
          <a:prstGeom prst="roundRect">
            <a:avLst/>
          </a:prstGeom>
          <a:solidFill>
            <a:srgbClr val="C5E1F5"/>
          </a:solidFill>
          <a:ln w="15240">
            <a:solidFill>
              <a:srgbClr val="C5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64515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7222D"/>
                </a:solidFill>
                <a:latin typeface="Aptos"/>
              </a:rPr>
              <a:t>Agit</a:t>
            </a:r>
          </a:p>
        </p:txBody>
      </p:sp>
      <p:sp>
        <p:nvSpPr>
          <p:cNvPr id="24" name="Chevron 23"/>
          <p:cNvSpPr/>
          <p:nvPr/>
        </p:nvSpPr>
        <p:spPr>
          <a:xfrm>
            <a:off x="5724144" y="3611880"/>
            <a:ext cx="237744" cy="146304"/>
          </a:xfrm>
          <a:prstGeom prst="chevron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 rot="5400000">
            <a:off x="6793992" y="3941063"/>
            <a:ext cx="146304" cy="237744"/>
          </a:xfrm>
          <a:prstGeom prst="chevron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 rot="10800000">
            <a:off x="5724144" y="4672584"/>
            <a:ext cx="237744" cy="146304"/>
          </a:xfrm>
          <a:prstGeom prst="chevron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 rot="16200000">
            <a:off x="4910328" y="3968496"/>
            <a:ext cx="146304" cy="237744"/>
          </a:xfrm>
          <a:prstGeom prst="chevron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0224" y="2505456"/>
            <a:ext cx="2761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7222D"/>
                </a:solidFill>
                <a:latin typeface="Aptos"/>
              </a:rPr>
              <a:t>Cadre d'exécution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3200400"/>
            <a:ext cx="1316736" cy="475488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41664" y="3282696"/>
            <a:ext cx="13167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7222D"/>
                </a:solidFill>
                <a:latin typeface="Aptos"/>
              </a:rPr>
              <a:t>Contexte
repo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68128" y="3200400"/>
            <a:ext cx="1316736" cy="475488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8128" y="3282696"/>
            <a:ext cx="13167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7222D"/>
                </a:solidFill>
                <a:latin typeface="Aptos"/>
              </a:rPr>
              <a:t>Outils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3886200"/>
            <a:ext cx="1316736" cy="475488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1664" y="3968496"/>
            <a:ext cx="13167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7222D"/>
                </a:solidFill>
                <a:latin typeface="Aptos"/>
              </a:rPr>
              <a:t>Permissions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68128" y="3886200"/>
            <a:ext cx="1316736" cy="475488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68128" y="3968496"/>
            <a:ext cx="13167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7222D"/>
                </a:solidFill>
                <a:latin typeface="Aptos"/>
              </a:rPr>
              <a:t>Mémoire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572000"/>
            <a:ext cx="1316736" cy="475488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41664" y="4654296"/>
            <a:ext cx="13167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7222D"/>
                </a:solidFill>
                <a:latin typeface="Aptos"/>
              </a:rPr>
              <a:t>Cache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68128" y="4572000"/>
            <a:ext cx="1316736" cy="475488"/>
          </a:xfrm>
          <a:prstGeom prst="roundRect">
            <a:avLst/>
          </a:prstGeom>
          <a:solidFill>
            <a:srgbClr val="E2D0F6"/>
          </a:solidFill>
          <a:ln w="15240">
            <a:solidFill>
              <a:srgbClr val="E2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8128" y="4654296"/>
            <a:ext cx="13167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7222D"/>
                </a:solidFill>
                <a:latin typeface="Aptos"/>
              </a:rPr>
              <a:t>Exécution</a:t>
            </a:r>
          </a:p>
        </p:txBody>
      </p:sp>
      <p:sp>
        <p:nvSpPr>
          <p:cNvPr id="41" name="Chevron 40"/>
          <p:cNvSpPr/>
          <p:nvPr/>
        </p:nvSpPr>
        <p:spPr>
          <a:xfrm>
            <a:off x="3255264" y="3767328"/>
            <a:ext cx="310896" cy="256032"/>
          </a:xfrm>
          <a:prstGeom prst="chevron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>
            <a:off x="8174736" y="3767328"/>
            <a:ext cx="310896" cy="256032"/>
          </a:xfrm>
          <a:prstGeom prst="chevron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7552" y="5522976"/>
            <a:ext cx="10149840" cy="640080"/>
          </a:xfrm>
          <a:prstGeom prst="roundRect">
            <a:avLst/>
          </a:prstGeom>
          <a:solidFill>
            <a:srgbClr val="F4ECE0"/>
          </a:solidFill>
          <a:ln w="15240">
            <a:solidFill>
              <a:srgbClr val="F4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25296" y="5696712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F5A24"/>
                </a:solidFill>
                <a:latin typeface="Aptos"/>
              </a:rPr>
              <a:t>Le Prompt Engineering cadre la boucle, les outils et le bon niveau de contexte.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2. Le landscape agentique en 4 couches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Le modèle calcule. Le framework organise. L’agent agit. L’UI expose.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1993392"/>
            <a:ext cx="2468880" cy="2514600"/>
          </a:xfrm>
          <a:prstGeom prst="roundRect">
            <a:avLst/>
          </a:prstGeom>
          <a:solidFill>
            <a:srgbClr val="EAF3F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2249424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76856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798064"/>
            <a:ext cx="21031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7222D"/>
                </a:solidFill>
                <a:latin typeface="Aptos"/>
              </a:rPr>
              <a:t>produit texte,
code, plan,
résumé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1993392"/>
            <a:ext cx="2468880" cy="2514600"/>
          </a:xfrm>
          <a:prstGeom prst="roundRect">
            <a:avLst/>
          </a:prstGeom>
          <a:solidFill>
            <a:srgbClr val="F0ECFB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33088" y="2249424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2276856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2798064"/>
            <a:ext cx="21031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7222D"/>
                </a:solidFill>
                <a:latin typeface="Aptos"/>
              </a:rPr>
              <a:t>structure état,
outils, mémoire,
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93392"/>
            <a:ext cx="2468880" cy="2514600"/>
          </a:xfrm>
          <a:prstGeom prst="roundRect">
            <a:avLst/>
          </a:prstGeom>
          <a:solidFill>
            <a:srgbClr val="F9EEE4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2249424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76856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98064"/>
            <a:ext cx="21031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7222D"/>
                </a:solidFill>
                <a:latin typeface="Aptos"/>
              </a:rPr>
              <a:t>choisit,
enchaîne,
vérifie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5167" y="1993392"/>
            <a:ext cx="2468880" cy="2514600"/>
          </a:xfrm>
          <a:prstGeom prst="roundRect">
            <a:avLst/>
          </a:prstGeom>
          <a:solidFill>
            <a:srgbClr val="FCF3EA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38943" y="2249424"/>
            <a:ext cx="148132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38943" y="2276856"/>
            <a:ext cx="1481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5472"/>
                </a:solidFill>
                <a:latin typeface="Aptos"/>
              </a:rPr>
              <a:t>UI /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7" y="2798064"/>
            <a:ext cx="21031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7222D"/>
                </a:solidFill>
                <a:latin typeface="Aptos"/>
              </a:rPr>
              <a:t>rend le système
visible et
pilotable</a:t>
            </a:r>
          </a:p>
        </p:txBody>
      </p:sp>
      <p:sp>
        <p:nvSpPr>
          <p:cNvPr id="21" name="Chevron 20"/>
          <p:cNvSpPr/>
          <p:nvPr/>
        </p:nvSpPr>
        <p:spPr>
          <a:xfrm>
            <a:off x="3017520" y="2999232"/>
            <a:ext cx="438912" cy="36576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5870448" y="2999232"/>
            <a:ext cx="438912" cy="36576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8723376" y="2999232"/>
            <a:ext cx="438912" cy="365760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" y="4535424"/>
            <a:ext cx="480060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690872"/>
            <a:ext cx="4443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F5A24"/>
                </a:solidFill>
                <a:latin typeface="Aptos"/>
              </a:rPr>
              <a:t>Message clé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946904"/>
            <a:ext cx="44439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15472"/>
                </a:solidFill>
                <a:latin typeface="Aptos"/>
              </a:rPr>
              <a:t>Le gain visible n’est pas dans la couche modèle seule.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4535424"/>
            <a:ext cx="5285232" cy="987552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4690872"/>
            <a:ext cx="48646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F5A24"/>
                </a:solidFill>
                <a:latin typeface="Aptos"/>
              </a:rPr>
              <a:t>Cas AGILab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946904"/>
            <a:ext cx="48646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15472"/>
                </a:solidFill>
                <a:latin typeface="Aptos"/>
              </a:rPr>
              <a:t>AGENTS.md + skills + scripts renforcent surtout la couche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3. La montée réelle de productivité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Même modèle. Trois niveaux de valeur très différents.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01952"/>
            <a:ext cx="29260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" y="2066544"/>
            <a:ext cx="1078992" cy="310896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93976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5A24"/>
                </a:solidFill>
                <a:latin typeface="Aptos"/>
              </a:rPr>
              <a:t>NIVEAU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468880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5472"/>
                </a:solidFill>
                <a:latin typeface="Aptos"/>
              </a:rPr>
              <a:t>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889504"/>
            <a:ext cx="2487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F5A24"/>
                </a:solidFill>
                <a:latin typeface="Aptos"/>
              </a:rPr>
              <a:t>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291840"/>
            <a:ext cx="230428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56B"/>
                </a:solidFill>
                <a:latin typeface="Aptos"/>
              </a:rPr>
              <a:t>• copier-coller
• tests manuels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877056"/>
            <a:ext cx="1463040" cy="310896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90448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F5A24"/>
                </a:solidFill>
                <a:latin typeface="Aptos"/>
              </a:rPr>
              <a:t>GAIN LIMITÉ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5072" y="1901952"/>
            <a:ext cx="2926080" cy="2468880"/>
          </a:xfrm>
          <a:prstGeom prst="roundRect">
            <a:avLst/>
          </a:prstGeom>
          <a:solidFill>
            <a:srgbClr val="FFFAF4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24528" y="2066544"/>
            <a:ext cx="1078992" cy="310896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2093976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5A24"/>
                </a:solidFill>
                <a:latin typeface="Aptos"/>
              </a:rPr>
              <a:t>NIVEAU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468880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5472"/>
                </a:solidFill>
                <a:latin typeface="Aptos"/>
              </a:rPr>
              <a:t>Plugin 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889504"/>
            <a:ext cx="2487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F5A24"/>
                </a:solidFill>
                <a:latin typeface="Aptos"/>
              </a:rPr>
              <a:t>édite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291840"/>
            <a:ext cx="230428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56B"/>
                </a:solidFill>
                <a:latin typeface="Aptos"/>
              </a:rPr>
              <a:t>• contexte local
• itération rapide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3877056"/>
            <a:ext cx="1463040" cy="310896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90448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F5A24"/>
                </a:solidFill>
                <a:latin typeface="Aptos"/>
              </a:rPr>
              <a:t>GAIN MOYEN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87184" y="1901952"/>
            <a:ext cx="3291840" cy="2468880"/>
          </a:xfrm>
          <a:prstGeom prst="roundRect">
            <a:avLst/>
          </a:prstGeom>
          <a:solidFill>
            <a:srgbClr val="FFF8EE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066544"/>
            <a:ext cx="1078992" cy="310896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093976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5A24"/>
                </a:solidFill>
                <a:latin typeface="Aptos"/>
              </a:rPr>
              <a:t>NIVEAU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468880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15472"/>
                </a:solidFill>
                <a:latin typeface="Aptos"/>
              </a:rPr>
              <a:t>Agent multi-skill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889504"/>
            <a:ext cx="2852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F5A24"/>
                </a:solidFill>
                <a:latin typeface="Aptos"/>
              </a:rPr>
              <a:t>orchestre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291840"/>
            <a:ext cx="267004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56B"/>
                </a:solidFill>
                <a:latin typeface="Aptos"/>
              </a:rPr>
              <a:t>• repo + skills
• scripts + vérification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4" y="3877056"/>
            <a:ext cx="1463040" cy="310896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4" y="390448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F5A24"/>
                </a:solidFill>
                <a:latin typeface="Aptos"/>
              </a:rPr>
              <a:t>GAIN FORT</a:t>
            </a:r>
          </a:p>
        </p:txBody>
      </p:sp>
      <p:sp>
        <p:nvSpPr>
          <p:cNvPr id="29" name="Chevron 28"/>
          <p:cNvSpPr/>
          <p:nvPr/>
        </p:nvSpPr>
        <p:spPr>
          <a:xfrm>
            <a:off x="1371600" y="4736592"/>
            <a:ext cx="9052560" cy="384048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157216"/>
            <a:ext cx="8961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BF5A24"/>
                </a:solidFill>
                <a:latin typeface="Aptos"/>
              </a:rPr>
              <a:t>Plus on retire l’orchestration à l’humain, plus le gain change d’échelle.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4. Pourquoi AGILab est un bon cas d’école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Dans un repo riche, le coût d’orchestration devient visible immédiatement.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25603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5472"/>
                </a:solidFill>
                <a:latin typeface="Aptos"/>
              </a:rPr>
              <a:t>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3063240"/>
            <a:ext cx="2240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A1F24"/>
                </a:solidFill>
                <a:latin typeface="Aptos"/>
              </a:rPr>
              <a:t>corriger une page
ou un formulaire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148840"/>
            <a:ext cx="25603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871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5472"/>
                </a:solidFill>
                <a:latin typeface="Aptos"/>
              </a:rPr>
              <a:t>Guidage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3063240"/>
            <a:ext cx="2240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A1F24"/>
                </a:solidFill>
                <a:latin typeface="Aptos"/>
              </a:rPr>
              <a:t>prompt
AGENTS.md
skills du repo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148840"/>
            <a:ext cx="25603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4871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5472"/>
                </a:solidFill>
                <a:latin typeface="Aptos"/>
              </a:rPr>
              <a:t>Sortie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063240"/>
            <a:ext cx="2240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A1F24"/>
                </a:solidFill>
                <a:latin typeface="Aptos"/>
              </a:rPr>
              <a:t>patch plus fiable
et validation ciblée</a:t>
            </a:r>
          </a:p>
        </p:txBody>
      </p:sp>
      <p:sp>
        <p:nvSpPr>
          <p:cNvPr id="14" name="Chevron 13"/>
          <p:cNvSpPr/>
          <p:nvPr/>
        </p:nvSpPr>
        <p:spPr>
          <a:xfrm>
            <a:off x="3520440" y="2953512"/>
            <a:ext cx="384048" cy="347472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6812280" y="2953512"/>
            <a:ext cx="384048" cy="347472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608576"/>
            <a:ext cx="10058400" cy="768096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91456"/>
            <a:ext cx="9601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F5A24"/>
                </a:solidFill>
                <a:latin typeface="Aptos"/>
              </a:rPr>
              <a:t>AGILab montre bien où un agent apporte de la valeur : il rappelle comment bien travailler dans ce repo.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10058400" cy="676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650992"/>
            <a:ext cx="9509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15472"/>
                </a:solidFill>
                <a:latin typeface="Aptos"/>
              </a:rPr>
              <a:t>Benchmark lisible : PandasWorker = process, PolarsWorker = threads, même workload, exécution rendue explicite.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5. Pourquoi Codex CLI devient performant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Son intérêt : agir avec le bon contexte, pas tout lire ni tout improviser.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2359152"/>
            <a:ext cx="2267712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993392"/>
            <a:ext cx="566928" cy="329184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0784" y="2020824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88920"/>
            <a:ext cx="20665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1F24"/>
                </a:solidFill>
                <a:latin typeface="Aptos"/>
              </a:rPr>
              <a:t>métadonnées repo</a:t>
            </a:r>
          </a:p>
        </p:txBody>
      </p:sp>
      <p:sp>
        <p:nvSpPr>
          <p:cNvPr id="9" name="Chevron 8"/>
          <p:cNvSpPr/>
          <p:nvPr/>
        </p:nvSpPr>
        <p:spPr>
          <a:xfrm>
            <a:off x="3227832" y="2852928"/>
            <a:ext cx="274320" cy="201168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5303" y="2359152"/>
            <a:ext cx="2267712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9703" y="1993392"/>
            <a:ext cx="566928" cy="329184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3" y="2020824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788920"/>
            <a:ext cx="20665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1F24"/>
                </a:solidFill>
                <a:latin typeface="Aptos"/>
              </a:rPr>
              <a:t>SKILL.md</a:t>
            </a:r>
          </a:p>
        </p:txBody>
      </p:sp>
      <p:sp>
        <p:nvSpPr>
          <p:cNvPr id="14" name="Chevron 13"/>
          <p:cNvSpPr/>
          <p:nvPr/>
        </p:nvSpPr>
        <p:spPr>
          <a:xfrm>
            <a:off x="6016752" y="2852928"/>
            <a:ext cx="274320" cy="201168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2359152"/>
            <a:ext cx="2267712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78624" y="1993392"/>
            <a:ext cx="566928" cy="329184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2020824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788920"/>
            <a:ext cx="20665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1F24"/>
                </a:solidFill>
                <a:latin typeface="Aptos"/>
              </a:rPr>
              <a:t>scripts utiles</a:t>
            </a:r>
          </a:p>
        </p:txBody>
      </p:sp>
      <p:sp>
        <p:nvSpPr>
          <p:cNvPr id="19" name="Chevron 18"/>
          <p:cNvSpPr/>
          <p:nvPr/>
        </p:nvSpPr>
        <p:spPr>
          <a:xfrm>
            <a:off x="8805672" y="2852928"/>
            <a:ext cx="274320" cy="201168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53143" y="2359152"/>
            <a:ext cx="2267712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67543" y="1993392"/>
            <a:ext cx="566928" cy="329184"/>
          </a:xfrm>
          <a:prstGeom prst="roundRect">
            <a:avLst/>
          </a:prstGeom>
          <a:solidFill>
            <a:srgbClr val="BF5A24"/>
          </a:solidFill>
          <a:ln w="15240">
            <a:solidFill>
              <a:srgbClr val="BF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67543" y="2020824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7" y="2788920"/>
            <a:ext cx="20665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1F24"/>
                </a:solidFill>
                <a:latin typeface="Aptos"/>
              </a:rPr>
              <a:t>exécution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590288"/>
            <a:ext cx="10012680" cy="749808"/>
          </a:xfrm>
          <a:prstGeom prst="roundRect">
            <a:avLst/>
          </a:prstGeom>
          <a:solidFill>
            <a:srgbClr val="F4ECE0"/>
          </a:solidFill>
          <a:ln w="15240">
            <a:solidFill>
              <a:srgbClr val="F4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4800600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Progressive disclosure : Codex n’ouvre que ce qui est utile, au moment utile.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6. Ce qu’un skill apporte vraiment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Le skill transforme une tâche vague en workflow reproductible.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84831"/>
            <a:ext cx="306324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95728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BF5A24"/>
                </a:solidFill>
                <a:latin typeface="Aptos"/>
              </a:rPr>
              <a:t>scripts/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2852928"/>
            <a:ext cx="1463040" cy="365760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2880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exécute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456432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E656B"/>
                </a:solidFill>
                <a:latin typeface="Aptos"/>
              </a:rPr>
              <a:t>CLI déterministe
run_eval.py
collect_metrics.py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84831"/>
            <a:ext cx="306324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95728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BF5A24"/>
                </a:solidFill>
                <a:latin typeface="Aptos"/>
              </a:rPr>
              <a:t>references/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852928"/>
            <a:ext cx="1463040" cy="365760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880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cadre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456432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E656B"/>
                </a:solidFill>
                <a:latin typeface="Aptos"/>
              </a:rPr>
              <a:t>protocoles
checklists
métriques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2084831"/>
            <a:ext cx="3063240" cy="2606040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395728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BF5A24"/>
                </a:solidFill>
                <a:latin typeface="Aptos"/>
              </a:rPr>
              <a:t>assets/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2852928"/>
            <a:ext cx="1463040" cy="365760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2880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fournit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456432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E656B"/>
                </a:solidFill>
                <a:latin typeface="Aptos"/>
              </a:rPr>
              <a:t>templates
exemples d’input
ressources locales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7. Pourquoi Codex ne met pas les skills à jour tout seul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Plus d’autonomie ne veut pas dire réécriture silencieuse du repo.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45720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331720"/>
            <a:ext cx="1554480" cy="384048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59152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AUTONOMIE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8036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15472"/>
                </a:solidFill>
                <a:latin typeface="Aptos"/>
              </a:rPr>
              <a:t>oui pour lire,
choisir, lancer et vérifier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057400"/>
            <a:ext cx="4572000" cy="2468880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31152" y="2331720"/>
            <a:ext cx="2148840" cy="384048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235915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F5A24"/>
                </a:solidFill>
                <a:latin typeface="Aptos"/>
              </a:rPr>
              <a:t>RÉÉCRITURE SILENCIEUSE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880360"/>
            <a:ext cx="39776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15472"/>
                </a:solidFill>
                <a:latin typeface="Aptos"/>
              </a:rPr>
              <a:t>non pour modifier seul
les règles du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5604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E656B"/>
                </a:solidFill>
                <a:latin typeface="Aptos"/>
              </a:rPr>
              <a:t>Pourquoi : pas de dérive silencieuse, pas de surprise côté repo, amélioration volontaire.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8. Code Companion V3 vs Codex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Le plugin fait gagner du temps dans l’IDE. L’agent fait gagner des étapes de travail.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920240"/>
            <a:ext cx="4709160" cy="2761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04288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15472"/>
                </a:solidFill>
                <a:latin typeface="Aptos"/>
              </a:rPr>
              <a:t>Code Companion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F24"/>
                </a:solidFill>
                <a:latin typeface="Aptos"/>
              </a:rPr>
              <a:t>assistant IDE sécurisé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182112"/>
            <a:ext cx="3840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56B"/>
                </a:solidFill>
                <a:latin typeface="Aptos"/>
              </a:rPr>
              <a:t>• édition locale rapide
• bon pour itérer
• l’humain orchestre encore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4709160" cy="2761488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2304288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BF5A24"/>
                </a:solidFill>
                <a:latin typeface="Aptos"/>
              </a:rPr>
              <a:t>Codex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697480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F24"/>
                </a:solidFill>
                <a:latin typeface="Aptos"/>
              </a:rPr>
              <a:t>agent terminal orienté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82112"/>
            <a:ext cx="3840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56B"/>
                </a:solidFill>
                <a:latin typeface="Aptos"/>
              </a:rPr>
              <a:t>• analyse plusieurs fichiers
• lance scripts et vérifications
• enchaîne le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992624"/>
            <a:ext cx="8549640" cy="694944"/>
          </a:xfrm>
          <a:prstGeom prst="roundRect">
            <a:avLst/>
          </a:prstGeom>
          <a:solidFill>
            <a:srgbClr val="F5ECE1"/>
          </a:solidFill>
          <a:ln w="15240">
            <a:solidFill>
              <a:srgbClr val="F5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230368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15472"/>
                </a:solidFill>
                <a:latin typeface="Aptos"/>
              </a:rPr>
              <a:t>Le plugin fait gagner du temps. L’agent fait gagner des étapes de travail.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03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9. Quand utiliser quoi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170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56B"/>
                </a:solidFill>
                <a:latin typeface="Aptos"/>
              </a:rPr>
              <a:t>Même équipe, mêmes modèles, mais pas le même niveau d’orchestration.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9344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420624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0" y="2148840"/>
            <a:ext cx="4206240" cy="2651760"/>
          </a:xfrm>
          <a:prstGeom prst="roundRect">
            <a:avLst/>
          </a:prstGeom>
          <a:solidFill>
            <a:srgbClr val="F9F3EC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420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15472"/>
                </a:solidFill>
                <a:latin typeface="Aptos"/>
              </a:rPr>
              <a:t>Code Companion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54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A1F24"/>
                </a:solidFill>
                <a:latin typeface="Aptos"/>
              </a:rPr>
              <a:t>question locale
édition rapide
itération dans l’IDE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2631" y="25420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BF5A24"/>
                </a:solidFill>
                <a:latin typeface="Aptos"/>
              </a:rPr>
              <a:t>Codex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1546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A1F24"/>
                </a:solidFill>
                <a:latin typeface="Aptos"/>
              </a:rPr>
              <a:t>workflow complet
tâche longue
validation et enchaînement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5394960" y="3063240"/>
            <a:ext cx="1325880" cy="713232"/>
          </a:xfrm>
          <a:prstGeom prst="chevron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94944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15472"/>
                </a:solidFill>
                <a:latin typeface="Aptos"/>
              </a:rPr>
              <a:t>10. À retenir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627632"/>
            <a:ext cx="1645920" cy="45720"/>
          </a:xfrm>
          <a:prstGeom prst="rect">
            <a:avLst/>
          </a:prstGeom>
          <a:solidFill>
            <a:srgbClr val="BF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103784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38528"/>
            <a:ext cx="9784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7222D"/>
                </a:solidFill>
                <a:latin typeface="Aptos"/>
              </a:rPr>
              <a:t>Le vrai levier de productivité n’est pas le modèle seul.
C’est l’orchestration du travail.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675887"/>
            <a:ext cx="31546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136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708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A1F24"/>
                </a:solidFill>
                <a:latin typeface="Aptos"/>
              </a:rPr>
              <a:t>cadre modèle, contexte
et sortie attendue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675887"/>
            <a:ext cx="31546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9136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Plugin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3708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A1F24"/>
                </a:solidFill>
                <a:latin typeface="Aptos"/>
              </a:rPr>
              <a:t>accélère l’édition
et l’itération locale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19" y="3675887"/>
            <a:ext cx="31546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0999" y="39136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5A24"/>
                </a:solidFill>
                <a:latin typeface="Aptos"/>
              </a:rPr>
              <a:t>Agent multi-skill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999" y="43708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A1F24"/>
                </a:solidFill>
                <a:latin typeface="Aptos"/>
              </a:rPr>
              <a:t>enchaîne workflow,
scripts et vérification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