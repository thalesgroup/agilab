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731520"/>
            <a:ext cx="2560320" cy="2560320"/>
          </a:xfrm>
          <a:prstGeom prst="ellipse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120640"/>
            <a:ext cx="2103120" cy="2103120"/>
          </a:xfrm>
          <a:prstGeom prst="ellipse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4B9D6"/>
                </a:solidFill>
                <a:latin typeface="Aptos"/>
              </a:rPr>
              <a:t>PUBLIC WORKFLOW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4F0EB"/>
                </a:solidFill>
                <a:latin typeface="Aptos Display"/>
              </a:rPr>
              <a:t>AGILAB Full Tour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ABB7C4"/>
                </a:solidFill>
                <a:latin typeface="Aptos"/>
              </a:rPr>
              <a:t>Slideshow companion for the `uav_relay_queue_project` public workflow 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143000" cy="310896"/>
          </a:xfrm>
          <a:prstGeom prst="round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8" y="1965960"/>
            <a:ext cx="1362456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ORCHESTRATE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965960"/>
            <a:ext cx="1143000" cy="310896"/>
          </a:xfrm>
          <a:prstGeom prst="roundRect">
            <a:avLst/>
          </a:prstGeom>
          <a:solidFill>
            <a:srgbClr val="F5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965960"/>
            <a:ext cx="1143000" cy="310896"/>
          </a:xfrm>
          <a:prstGeom prst="roundRect">
            <a:avLst/>
          </a:prstGeom>
          <a:solidFill>
            <a:srgbClr val="98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42032"/>
            <a:ext cx="5212080" cy="786384"/>
          </a:xfrm>
          <a:prstGeom prst="roundRect">
            <a:avLst/>
          </a:prstGeom>
          <a:solidFill>
            <a:srgbClr val="1C2D3D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706624"/>
            <a:ext cx="4773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4F0EB"/>
                </a:solidFill>
                <a:latin typeface="Aptos"/>
              </a:rPr>
              <a:t>Goal: show the four-page AGILAB story without asking the viewer to replay a hosted runtime or watch a video.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730752"/>
            <a:ext cx="2423160" cy="141732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2423160" cy="141732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8408" y="3822192"/>
            <a:ext cx="438912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187952"/>
            <a:ext cx="2020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9212A"/>
                </a:solidFill>
                <a:latin typeface="Aptos Display"/>
              </a:rPr>
              <a:t>Replayable path</a:t>
            </a:r>
          </a:p>
          <a:p>
            <a:r>
              <a:rPr sz="1100" b="0">
                <a:solidFill>
                  <a:srgbClr val="57606D"/>
                </a:solidFill>
                <a:latin typeface="Aptos"/>
              </a:rPr>
              <a:t>The run is not just executable once; the workflow is made explicit.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7016" y="3730752"/>
            <a:ext cx="2423160" cy="141732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93008" y="3657600"/>
            <a:ext cx="2423160" cy="141732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94176" y="3822192"/>
            <a:ext cx="438912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4187952"/>
            <a:ext cx="202082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9212A"/>
                </a:solidFill>
                <a:latin typeface="Aptos Display"/>
              </a:rPr>
              <a:t>Readable payoff</a:t>
            </a:r>
          </a:p>
          <a:p>
            <a:r>
              <a:rPr sz="1100" b="0">
                <a:solidFill>
                  <a:srgbClr val="57606D"/>
                </a:solidFill>
                <a:latin typeface="Aptos"/>
              </a:rPr>
              <a:t>End on queue or route evidence that a technical reviewer can scan fast.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1152144"/>
            <a:ext cx="4480560" cy="224028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1078992"/>
            <a:ext cx="4480560" cy="224028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188720"/>
            <a:ext cx="4261104" cy="202082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766560" y="932688"/>
            <a:ext cx="1097280" cy="310896"/>
          </a:xfrm>
          <a:prstGeom prst="round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2935224"/>
            <a:ext cx="41513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App and scenario are visible from the start.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0608" y="2770632"/>
            <a:ext cx="4480560" cy="224028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6600" y="2697480"/>
            <a:ext cx="4480560" cy="224028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807208"/>
            <a:ext cx="4261104" cy="202082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269480" y="2551176"/>
            <a:ext cx="1097280" cy="310896"/>
          </a:xfrm>
          <a:prstGeom prst="roundRect">
            <a:avLst/>
          </a:prstGeom>
          <a:solidFill>
            <a:srgbClr val="F5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4553712"/>
            <a:ext cx="41513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The run becomes an explicit tracked workflow.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44968" y="4233672"/>
            <a:ext cx="3840480" cy="160020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80960" y="4160520"/>
            <a:ext cx="3840480" cy="160020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88" y="4270248"/>
            <a:ext cx="3621024" cy="138074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863840" y="4014216"/>
            <a:ext cx="1097280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376672"/>
            <a:ext cx="3511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Readable end-state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731520"/>
            <a:ext cx="2560320" cy="2560320"/>
          </a:xfrm>
          <a:prstGeom prst="ellipse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120640"/>
            <a:ext cx="2103120" cy="2103120"/>
          </a:xfrm>
          <a:prstGeom prst="ellipse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4B9D6"/>
                </a:solidFill>
                <a:latin typeface="Aptos"/>
              </a:rPr>
              <a:t>WORKFLOW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4846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4F0EB"/>
                </a:solidFill>
                <a:latin typeface="Aptos Display"/>
              </a:rPr>
              <a:t>The Full Workflow Story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ABB7C4"/>
                </a:solidFill>
                <a:latin typeface="Aptos"/>
              </a:rPr>
              <a:t>This is the stronger README and public-tour narrative.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56232"/>
            <a:ext cx="5897880" cy="384048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897880" cy="384048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92808"/>
            <a:ext cx="5678424" cy="36210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0120" y="1636776"/>
            <a:ext cx="1389888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FOUR PAGE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5239512"/>
            <a:ext cx="55686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The story is the page sequence, not isolated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1901952"/>
            <a:ext cx="4114800" cy="100584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95160" y="1828800"/>
            <a:ext cx="4114800" cy="100584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1828800"/>
            <a:ext cx="118872" cy="1005840"/>
          </a:xfrm>
          <a:prstGeom prst="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9212A"/>
                </a:solidFill>
                <a:latin typeface="Aptos Display"/>
              </a:rPr>
              <a:t>Explicit context</a:t>
            </a:r>
          </a:p>
          <a:p>
            <a:r>
              <a:rPr sz="1100" b="0">
                <a:solidFill>
                  <a:srgbClr val="57606D"/>
                </a:solidFill>
                <a:latin typeface="Aptos"/>
              </a:rPr>
              <a:t>PROJECT anchors the app and scenario instead of hiding setup inside an implicit shell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9168" y="3072384"/>
            <a:ext cx="4114800" cy="100584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95160" y="2999232"/>
            <a:ext cx="4114800" cy="100584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2999232"/>
            <a:ext cx="118872" cy="1005840"/>
          </a:xfrm>
          <a:prstGeom prst="rect">
            <a:avLst/>
          </a:prstGeom>
          <a:solidFill>
            <a:srgbClr val="F5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1192" y="318211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9212A"/>
                </a:solidFill>
                <a:latin typeface="Aptos Display"/>
              </a:rPr>
              <a:t>Replayable workflow</a:t>
            </a:r>
          </a:p>
          <a:p>
            <a:r>
              <a:rPr sz="1100" b="0">
                <a:solidFill>
                  <a:srgbClr val="57606D"/>
                </a:solidFill>
                <a:latin typeface="Aptos"/>
              </a:rPr>
              <a:t>PIPELINE shows that execution steps and artifacts can be inspected and rerun, not only re-described.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4242815"/>
            <a:ext cx="4114800" cy="100584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95160" y="4169663"/>
            <a:ext cx="4114800" cy="100584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169663"/>
            <a:ext cx="118872" cy="1005840"/>
          </a:xfrm>
          <a:prstGeom prst="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4352543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9212A"/>
                </a:solidFill>
                <a:latin typeface="Aptos Display"/>
              </a:rPr>
              <a:t>Technical payoff</a:t>
            </a:r>
          </a:p>
          <a:p>
            <a:r>
              <a:rPr sz="1100" b="0">
                <a:solidFill>
                  <a:srgbClr val="57606D"/>
                </a:solidFill>
                <a:latin typeface="Aptos"/>
              </a:rPr>
              <a:t>ANALYSIS lands on queue or route evidence that justifies the workflow story.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332720" cy="786384"/>
          </a:xfrm>
          <a:prstGeom prst="roundRect">
            <a:avLst/>
          </a:prstGeom>
          <a:solidFill>
            <a:srgbClr val="1C2D3D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5907024"/>
            <a:ext cx="9893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4F0EB"/>
                </a:solidFill>
                <a:latin typeface="Aptos"/>
              </a:rPr>
              <a:t>Narration: AGILAB turns a lightweight experiment into an explicit, reviewable workflow instead of a one-off script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731520"/>
            <a:ext cx="2560320" cy="2560320"/>
          </a:xfrm>
          <a:prstGeom prst="ellipse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120640"/>
            <a:ext cx="2103120" cy="2103120"/>
          </a:xfrm>
          <a:prstGeom prst="ellipse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4B9D6"/>
                </a:solidFill>
                <a:latin typeface="Aptos"/>
              </a:rPr>
              <a:t>PAGE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6492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4F0EB"/>
                </a:solidFill>
                <a:latin typeface="Aptos Display"/>
              </a:rPr>
              <a:t>Project To Pipeline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ABB7C4"/>
                </a:solidFill>
                <a:latin typeface="Aptos"/>
              </a:rPr>
              <a:t>PROJECT and ORCHESTRATE establish the run; PIPELINE makes it explicit.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947671"/>
            <a:ext cx="3474720" cy="274320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474720" cy="274320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984247"/>
            <a:ext cx="3255264" cy="252374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0120" y="1728215"/>
            <a:ext cx="1097280" cy="310896"/>
          </a:xfrm>
          <a:prstGeom prst="round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1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233671"/>
            <a:ext cx="31455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Select `uav_relay_queue_project` and keep the scenario visible.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47671"/>
            <a:ext cx="3474720" cy="274320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874519"/>
            <a:ext cx="3474720" cy="274320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984247"/>
            <a:ext cx="3255264" cy="25237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53712" y="1728215"/>
            <a:ext cx="1307592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2 ORCHESTRATE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4233671"/>
            <a:ext cx="31455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Trigger the run through one packaged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947671"/>
            <a:ext cx="3474720" cy="274320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64424" y="1874519"/>
            <a:ext cx="3474720" cy="274320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984247"/>
            <a:ext cx="3255264" cy="25237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147304" y="1728215"/>
            <a:ext cx="1097280" cy="310896"/>
          </a:xfrm>
          <a:prstGeom prst="roundRect">
            <a:avLst/>
          </a:prstGeom>
          <a:solidFill>
            <a:srgbClr val="F5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3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4233671"/>
            <a:ext cx="31455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Show that the execution path is tracked and replayable.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83480"/>
            <a:ext cx="10652760" cy="91440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184648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E86E3A"/>
                </a:solidFill>
                <a:latin typeface="Aptos"/>
              </a:rPr>
              <a:t>— </a:t>
            </a:r>
            <a:r>
              <a:rPr sz="1200" b="0">
                <a:solidFill>
                  <a:srgbClr val="19212A"/>
                </a:solidFill>
                <a:latin typeface="Aptos"/>
              </a:rPr>
              <a:t>The deck works only if the viewer reads these as one route through the product, not as disconnected screens.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E86E3A"/>
                </a:solidFill>
                <a:latin typeface="Aptos"/>
              </a:rPr>
              <a:t>— </a:t>
            </a:r>
            <a:r>
              <a:rPr sz="1200" b="0">
                <a:solidFill>
                  <a:srgbClr val="19212A"/>
                </a:solidFill>
                <a:latin typeface="Aptos"/>
              </a:rPr>
              <a:t>That is why PIPELINE matters in the full tour and not in the newcomer-safe first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731520"/>
            <a:ext cx="2560320" cy="2560320"/>
          </a:xfrm>
          <a:prstGeom prst="ellipse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120640"/>
            <a:ext cx="2103120" cy="2103120"/>
          </a:xfrm>
          <a:prstGeom prst="ellipse">
            <a:avLst/>
          </a:prstGeom>
          <a:solidFill>
            <a:srgbClr val="1C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4B9D6"/>
                </a:solidFill>
                <a:latin typeface="Aptos"/>
              </a:rPr>
              <a:t>TECHNICAL PAYOFF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4F0EB"/>
                </a:solidFill>
                <a:latin typeface="Aptos Display"/>
              </a:rPr>
              <a:t>End On Queue Evidence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ABB7C4"/>
                </a:solidFill>
                <a:latin typeface="Aptos"/>
              </a:rPr>
              <a:t>ANALYSIS carries the technical payoff of the full tour.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64792"/>
            <a:ext cx="6537960" cy="429768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6537960" cy="429768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01368"/>
            <a:ext cx="6318504" cy="40782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0120" y="1545336"/>
            <a:ext cx="1097280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5605272"/>
            <a:ext cx="62087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4F0EB"/>
                </a:solidFill>
                <a:latin typeface="Aptos"/>
              </a:rPr>
              <a:t>Queue or route evidence is where the public tour becomes credible.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901952"/>
            <a:ext cx="3474720" cy="141732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35240" y="1828800"/>
            <a:ext cx="3474720" cy="141732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828800"/>
            <a:ext cx="118872" cy="1417320"/>
          </a:xfrm>
          <a:prstGeom prst="rect">
            <a:avLst/>
          </a:prstGeom>
          <a:solidFill>
            <a:srgbClr val="E8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2" y="201168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9212A"/>
                </a:solidFill>
                <a:latin typeface="Aptos Display"/>
              </a:rPr>
              <a:t>What the viewer should retain</a:t>
            </a:r>
          </a:p>
          <a:p>
            <a:r>
              <a:rPr sz="1100" b="0">
                <a:solidFill>
                  <a:srgbClr val="57606D"/>
                </a:solidFill>
                <a:latin typeface="Aptos"/>
              </a:rPr>
              <a:t>AGILAB did not just execute a scenario. It kept the workflow explicit all the way to a readable technical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3529584"/>
            <a:ext cx="3474720" cy="1417320"/>
          </a:xfrm>
          <a:prstGeom prst="roundRect">
            <a:avLst/>
          </a:prstGeom>
          <a:solidFill>
            <a:srgbClr val="12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3456432"/>
            <a:ext cx="3474720" cy="1417320"/>
          </a:xfrm>
          <a:prstGeom prst="roundRect">
            <a:avLst/>
          </a:prstGeom>
          <a:solidFill>
            <a:srgbClr val="F7F3EE"/>
          </a:solidFill>
          <a:ln w="15240">
            <a:solidFill>
              <a:srgbClr val="D6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3456432"/>
            <a:ext cx="118872" cy="1417320"/>
          </a:xfrm>
          <a:prstGeom prst="rect">
            <a:avLst/>
          </a:prstGeom>
          <a:solidFill>
            <a:srgbClr val="F5B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2" y="363931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9212A"/>
                </a:solidFill>
                <a:latin typeface="Aptos Display"/>
              </a:rPr>
              <a:t>Why this deck exists</a:t>
            </a:r>
          </a:p>
          <a:p>
            <a:r>
              <a:rPr sz="1100" b="0">
                <a:solidFill>
                  <a:srgbClr val="57606D"/>
                </a:solidFill>
                <a:latin typeface="Aptos"/>
              </a:rPr>
              <a:t>It gives the README and docs a skimmable public demo surface without requiring a hosted runtime or video playback.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230368"/>
            <a:ext cx="1097280" cy="310896"/>
          </a:xfrm>
          <a:prstGeom prst="roundRect">
            <a:avLst/>
          </a:prstGeom>
          <a:solidFill>
            <a:srgbClr val="54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F0EB"/>
                </a:solidFill>
                <a:latin typeface="Aptos"/>
              </a:rPr>
              <a:t>FULL TOUR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577840"/>
            <a:ext cx="3474720" cy="530352"/>
          </a:xfrm>
          <a:prstGeom prst="roundRect">
            <a:avLst/>
          </a:prstGeom>
          <a:solidFill>
            <a:srgbClr val="1C2D3D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54696" y="5742432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4F0EB"/>
                </a:solidFill>
                <a:latin typeface="Aptos"/>
              </a:rPr>
              <a:t>The point of the full tour is not breadth for its own sake. It is explicit workflow plus visible queue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