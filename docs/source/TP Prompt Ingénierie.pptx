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74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361D52-3F77-7740-AEA3-A94937B14596}" type="datetimeFigureOut">
              <a:rPr lang="fr-FR" smtClean="0"/>
              <a:t>13/04/2026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08E842-F3E3-C74A-9F46-D5E8BD4FC3EA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484153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08E842-F3E3-C74A-9F46-D5E8BD4FC3EA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361344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603504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215472"/>
                </a:solidFill>
                <a:latin typeface="Aptos"/>
              </a:rPr>
              <a:t>1. Le vrai rôle du Prompt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117043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E656B"/>
                </a:solidFill>
                <a:latin typeface="Aptos"/>
              </a:rPr>
              <a:t>Le prompt cadre le système d'exécution : modèle, boucle agentique et runtime.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9344"/>
            <a:ext cx="1645920" cy="45720"/>
          </a:xfrm>
          <a:prstGeom prst="rect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822191" y="1828800"/>
            <a:ext cx="466344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17222D"/>
                </a:solidFill>
                <a:latin typeface="Aptos"/>
              </a:rPr>
              <a:t>Système cadré par le prompt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67712"/>
            <a:ext cx="2596896" cy="2944368"/>
          </a:xfrm>
          <a:prstGeom prst="roundRect">
            <a:avLst/>
          </a:prstGeom>
          <a:solidFill>
            <a:srgbClr val="FFFFFF"/>
          </a:solidFill>
          <a:ln w="27940">
            <a:solidFill>
              <a:srgbClr val="1722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675887" y="2267712"/>
            <a:ext cx="4480560" cy="2944368"/>
          </a:xfrm>
          <a:prstGeom prst="roundRect">
            <a:avLst/>
          </a:prstGeom>
          <a:solidFill>
            <a:srgbClr val="FFFFFF"/>
          </a:solidFill>
          <a:ln w="27940">
            <a:solidFill>
              <a:srgbClr val="1722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485632" y="2267712"/>
            <a:ext cx="3127248" cy="2944368"/>
          </a:xfrm>
          <a:prstGeom prst="roundRect">
            <a:avLst/>
          </a:prstGeom>
          <a:solidFill>
            <a:srgbClr val="FFFFFF"/>
          </a:solidFill>
          <a:ln w="27940">
            <a:solidFill>
              <a:srgbClr val="1722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86968" y="2523744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100" b="0">
                <a:solidFill>
                  <a:srgbClr val="17222D"/>
                </a:solidFill>
                <a:latin typeface="Aptos"/>
              </a:rPr>
              <a:t>Couche modèle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5840" y="3054096"/>
            <a:ext cx="1847088" cy="877824"/>
          </a:xfrm>
          <a:prstGeom prst="roundRect">
            <a:avLst/>
          </a:prstGeom>
          <a:solidFill>
            <a:srgbClr val="FAD9B0"/>
          </a:solidFill>
          <a:ln w="15240">
            <a:solidFill>
              <a:srgbClr val="FAD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15568" y="3319272"/>
            <a:ext cx="162763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0">
                <a:solidFill>
                  <a:srgbClr val="17222D"/>
                </a:solidFill>
                <a:latin typeface="Aptos"/>
              </a:rPr>
              <a:t>LLM de base</a:t>
            </a:r>
          </a:p>
        </p:txBody>
      </p:sp>
      <p:sp>
        <p:nvSpPr>
          <p:cNvPr id="12" name="Chevron 11"/>
          <p:cNvSpPr/>
          <p:nvPr/>
        </p:nvSpPr>
        <p:spPr>
          <a:xfrm rot="5400000">
            <a:off x="1773936" y="3968496"/>
            <a:ext cx="292608" cy="292608"/>
          </a:xfrm>
          <a:prstGeom prst="chevron">
            <a:avLst/>
          </a:prstGeom>
          <a:solidFill>
            <a:srgbClr val="172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005840" y="4315968"/>
            <a:ext cx="1847088" cy="877824"/>
          </a:xfrm>
          <a:prstGeom prst="roundRect">
            <a:avLst/>
          </a:prstGeom>
          <a:solidFill>
            <a:srgbClr val="FAD9B0"/>
          </a:solidFill>
          <a:ln w="15240">
            <a:solidFill>
              <a:srgbClr val="FAD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15568" y="4461854"/>
            <a:ext cx="162763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0" dirty="0">
                <a:solidFill>
                  <a:srgbClr val="17222D"/>
                </a:solidFill>
                <a:latin typeface="Aptos"/>
              </a:rPr>
              <a:t>LLM
reasoning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0016" y="2523744"/>
            <a:ext cx="248716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100" b="0">
                <a:solidFill>
                  <a:srgbClr val="17222D"/>
                </a:solidFill>
                <a:latin typeface="Aptos"/>
              </a:rPr>
              <a:t>Boucle agentique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87952" y="3401568"/>
            <a:ext cx="1463040" cy="566928"/>
          </a:xfrm>
          <a:prstGeom prst="roundRect">
            <a:avLst/>
          </a:prstGeom>
          <a:solidFill>
            <a:srgbClr val="C5E1F5"/>
          </a:solidFill>
          <a:ln w="15240">
            <a:solidFill>
              <a:srgbClr val="C5E1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187952" y="3547872"/>
            <a:ext cx="14630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17222D"/>
                </a:solidFill>
                <a:latin typeface="Aptos"/>
              </a:rPr>
              <a:t>Inspecte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44768" y="3401568"/>
            <a:ext cx="1463040" cy="566928"/>
          </a:xfrm>
          <a:prstGeom prst="roundRect">
            <a:avLst/>
          </a:prstGeom>
          <a:solidFill>
            <a:srgbClr val="C5E1F5"/>
          </a:solidFill>
          <a:ln w="15240">
            <a:solidFill>
              <a:srgbClr val="C5E1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144768" y="3547872"/>
            <a:ext cx="14630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17222D"/>
                </a:solidFill>
                <a:latin typeface="Aptos"/>
              </a:rPr>
              <a:t>Choisit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87952" y="4498848"/>
            <a:ext cx="1463040" cy="566928"/>
          </a:xfrm>
          <a:prstGeom prst="roundRect">
            <a:avLst/>
          </a:prstGeom>
          <a:solidFill>
            <a:srgbClr val="C5E1F5"/>
          </a:solidFill>
          <a:ln w="15240">
            <a:solidFill>
              <a:srgbClr val="C5E1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187952" y="4645152"/>
            <a:ext cx="14630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17222D"/>
                </a:solidFill>
                <a:latin typeface="Aptos"/>
              </a:rPr>
              <a:t>Observe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44768" y="4498848"/>
            <a:ext cx="1463040" cy="566928"/>
          </a:xfrm>
          <a:prstGeom prst="roundRect">
            <a:avLst/>
          </a:prstGeom>
          <a:solidFill>
            <a:srgbClr val="C5E1F5"/>
          </a:solidFill>
          <a:ln w="15240">
            <a:solidFill>
              <a:srgbClr val="C5E1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144768" y="4645152"/>
            <a:ext cx="14630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17222D"/>
                </a:solidFill>
                <a:latin typeface="Aptos"/>
              </a:rPr>
              <a:t>Agit</a:t>
            </a:r>
          </a:p>
        </p:txBody>
      </p:sp>
      <p:sp>
        <p:nvSpPr>
          <p:cNvPr id="24" name="Chevron 23"/>
          <p:cNvSpPr/>
          <p:nvPr/>
        </p:nvSpPr>
        <p:spPr>
          <a:xfrm>
            <a:off x="5742432" y="3657600"/>
            <a:ext cx="201168" cy="128016"/>
          </a:xfrm>
          <a:prstGeom prst="chevron">
            <a:avLst/>
          </a:prstGeom>
          <a:solidFill>
            <a:srgbClr val="172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Chevron 24"/>
          <p:cNvSpPr/>
          <p:nvPr/>
        </p:nvSpPr>
        <p:spPr>
          <a:xfrm rot="5400000">
            <a:off x="6803136" y="3977639"/>
            <a:ext cx="128016" cy="201168"/>
          </a:xfrm>
          <a:prstGeom prst="chevron">
            <a:avLst/>
          </a:prstGeom>
          <a:solidFill>
            <a:srgbClr val="172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Chevron 25"/>
          <p:cNvSpPr/>
          <p:nvPr/>
        </p:nvSpPr>
        <p:spPr>
          <a:xfrm rot="10800000">
            <a:off x="5742432" y="4718304"/>
            <a:ext cx="201168" cy="128016"/>
          </a:xfrm>
          <a:prstGeom prst="chevron">
            <a:avLst/>
          </a:prstGeom>
          <a:solidFill>
            <a:srgbClr val="172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Chevron 26"/>
          <p:cNvSpPr/>
          <p:nvPr/>
        </p:nvSpPr>
        <p:spPr>
          <a:xfrm rot="16200000">
            <a:off x="4956048" y="3977639"/>
            <a:ext cx="128016" cy="201168"/>
          </a:xfrm>
          <a:prstGeom prst="chevron">
            <a:avLst/>
          </a:prstGeom>
          <a:solidFill>
            <a:srgbClr val="172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650224" y="2505456"/>
            <a:ext cx="276148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17222D"/>
                </a:solidFill>
                <a:latin typeface="Aptos"/>
              </a:rPr>
              <a:t>Cadre d'exécution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741664" y="3200400"/>
            <a:ext cx="1316736" cy="475488"/>
          </a:xfrm>
          <a:prstGeom prst="roundRect">
            <a:avLst/>
          </a:prstGeom>
          <a:solidFill>
            <a:srgbClr val="E2D0F6"/>
          </a:solidFill>
          <a:ln w="15240">
            <a:solidFill>
              <a:srgbClr val="E2D0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741664" y="3282696"/>
            <a:ext cx="131673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7222D"/>
                </a:solidFill>
                <a:latin typeface="Aptos"/>
              </a:rPr>
              <a:t>Contexte
repo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168128" y="3200400"/>
            <a:ext cx="1316736" cy="475488"/>
          </a:xfrm>
          <a:prstGeom prst="roundRect">
            <a:avLst/>
          </a:prstGeom>
          <a:solidFill>
            <a:srgbClr val="E2D0F6"/>
          </a:solidFill>
          <a:ln w="15240">
            <a:solidFill>
              <a:srgbClr val="E2D0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168128" y="3282696"/>
            <a:ext cx="131673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7222D"/>
                </a:solidFill>
                <a:latin typeface="Aptos"/>
              </a:rPr>
              <a:t>Outils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741664" y="3886200"/>
            <a:ext cx="1316736" cy="475488"/>
          </a:xfrm>
          <a:prstGeom prst="roundRect">
            <a:avLst/>
          </a:prstGeom>
          <a:solidFill>
            <a:srgbClr val="E2D0F6"/>
          </a:solidFill>
          <a:ln w="15240">
            <a:solidFill>
              <a:srgbClr val="E2D0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741664" y="3968496"/>
            <a:ext cx="131673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7222D"/>
                </a:solidFill>
                <a:latin typeface="Aptos"/>
              </a:rPr>
              <a:t>Permissions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168128" y="3886200"/>
            <a:ext cx="1316736" cy="475488"/>
          </a:xfrm>
          <a:prstGeom prst="roundRect">
            <a:avLst/>
          </a:prstGeom>
          <a:solidFill>
            <a:srgbClr val="E2D0F6"/>
          </a:solidFill>
          <a:ln w="15240">
            <a:solidFill>
              <a:srgbClr val="E2D0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168128" y="3968496"/>
            <a:ext cx="131673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7222D"/>
                </a:solidFill>
                <a:latin typeface="Aptos"/>
              </a:rPr>
              <a:t>Mémoire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741664" y="4572000"/>
            <a:ext cx="1316736" cy="475488"/>
          </a:xfrm>
          <a:prstGeom prst="roundRect">
            <a:avLst/>
          </a:prstGeom>
          <a:solidFill>
            <a:srgbClr val="E2D0F6"/>
          </a:solidFill>
          <a:ln w="15240">
            <a:solidFill>
              <a:srgbClr val="E2D0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741664" y="4654296"/>
            <a:ext cx="131673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7222D"/>
                </a:solidFill>
                <a:latin typeface="Aptos"/>
              </a:rPr>
              <a:t>Cache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168128" y="4572000"/>
            <a:ext cx="1316736" cy="475488"/>
          </a:xfrm>
          <a:prstGeom prst="roundRect">
            <a:avLst/>
          </a:prstGeom>
          <a:solidFill>
            <a:srgbClr val="E2D0F6"/>
          </a:solidFill>
          <a:ln w="15240">
            <a:solidFill>
              <a:srgbClr val="E2D0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0168128" y="4654296"/>
            <a:ext cx="131673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7222D"/>
                </a:solidFill>
                <a:latin typeface="Aptos"/>
              </a:rPr>
              <a:t>Exécution</a:t>
            </a:r>
          </a:p>
        </p:txBody>
      </p:sp>
      <p:sp>
        <p:nvSpPr>
          <p:cNvPr id="41" name="Chevron 40"/>
          <p:cNvSpPr/>
          <p:nvPr/>
        </p:nvSpPr>
        <p:spPr>
          <a:xfrm>
            <a:off x="3346704" y="3803904"/>
            <a:ext cx="219456" cy="201168"/>
          </a:xfrm>
          <a:prstGeom prst="chevron">
            <a:avLst/>
          </a:prstGeom>
          <a:solidFill>
            <a:srgbClr val="172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Chevron 41"/>
          <p:cNvSpPr/>
          <p:nvPr/>
        </p:nvSpPr>
        <p:spPr>
          <a:xfrm>
            <a:off x="8211312" y="3803904"/>
            <a:ext cx="219456" cy="201168"/>
          </a:xfrm>
          <a:prstGeom prst="chevron">
            <a:avLst/>
          </a:prstGeom>
          <a:solidFill>
            <a:srgbClr val="172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987552" y="5522976"/>
            <a:ext cx="10149840" cy="640080"/>
          </a:xfrm>
          <a:prstGeom prst="roundRect">
            <a:avLst/>
          </a:prstGeom>
          <a:solidFill>
            <a:srgbClr val="F4ECE0"/>
          </a:solidFill>
          <a:ln w="15240">
            <a:solidFill>
              <a:srgbClr val="F4E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225296" y="5696712"/>
            <a:ext cx="9692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BF5A24"/>
                </a:solidFill>
                <a:latin typeface="Aptos"/>
              </a:rPr>
              <a:t>Le Prompt Engineering cadre la boucle, les outils et le bon niveau de contexte.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603504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215472"/>
                </a:solidFill>
                <a:latin typeface="Aptos"/>
              </a:rPr>
              <a:t>2. Le landscape agentique en 4 couches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117043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E656B"/>
                </a:solidFill>
                <a:latin typeface="Aptos"/>
              </a:rPr>
              <a:t>Le modèle calcule. Le framework organise. L’agent agit. L’UI expose.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9344"/>
            <a:ext cx="1645920" cy="45720"/>
          </a:xfrm>
          <a:prstGeom prst="rect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86384" y="1993392"/>
            <a:ext cx="2468880" cy="2514600"/>
          </a:xfrm>
          <a:prstGeom prst="roundRect">
            <a:avLst/>
          </a:prstGeom>
          <a:solidFill>
            <a:srgbClr val="EAF3FC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280160" y="2249424"/>
            <a:ext cx="1481328" cy="31089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80160" y="2276856"/>
            <a:ext cx="148132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215472"/>
                </a:solidFill>
                <a:latin typeface="Aptos"/>
              </a:rPr>
              <a:t>MODÈLE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" y="2798064"/>
            <a:ext cx="2103120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 dirty="0" err="1">
                <a:solidFill>
                  <a:srgbClr val="17222D"/>
                </a:solidFill>
                <a:latin typeface="Aptos"/>
              </a:rPr>
              <a:t>produit</a:t>
            </a:r>
            <a:r>
              <a:rPr sz="1900" b="1" dirty="0">
                <a:solidFill>
                  <a:srgbClr val="17222D"/>
                </a:solidFill>
                <a:latin typeface="Aptos"/>
              </a:rPr>
              <a:t> </a:t>
            </a:r>
            <a:r>
              <a:rPr sz="1900" b="1" dirty="0" err="1">
                <a:solidFill>
                  <a:srgbClr val="17222D"/>
                </a:solidFill>
                <a:latin typeface="Aptos"/>
              </a:rPr>
              <a:t>texte</a:t>
            </a:r>
            <a:r>
              <a:rPr sz="1900" b="1" dirty="0">
                <a:solidFill>
                  <a:srgbClr val="17222D"/>
                </a:solidFill>
                <a:latin typeface="Aptos"/>
              </a:rPr>
              <a:t>,
code, plan,
résumé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39312" y="1993392"/>
            <a:ext cx="2468880" cy="2514600"/>
          </a:xfrm>
          <a:prstGeom prst="roundRect">
            <a:avLst/>
          </a:prstGeom>
          <a:solidFill>
            <a:srgbClr val="F0ECFB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133088" y="2249424"/>
            <a:ext cx="1481328" cy="31089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133088" y="2276856"/>
            <a:ext cx="148132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215472"/>
                </a:solidFill>
                <a:latin typeface="Aptos"/>
              </a:rPr>
              <a:t>FRAMEWORK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22192" y="2798064"/>
            <a:ext cx="2103120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17222D"/>
                </a:solidFill>
                <a:latin typeface="Aptos"/>
              </a:rPr>
              <a:t>structure état,
outils, mémoire,
routing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1993392"/>
            <a:ext cx="2468880" cy="2514600"/>
          </a:xfrm>
          <a:prstGeom prst="roundRect">
            <a:avLst/>
          </a:prstGeom>
          <a:solidFill>
            <a:srgbClr val="F9EEE4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986016" y="2249424"/>
            <a:ext cx="1481328" cy="31089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986016" y="2276856"/>
            <a:ext cx="148132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215472"/>
                </a:solidFill>
                <a:latin typeface="Aptos"/>
              </a:rPr>
              <a:t>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2798064"/>
            <a:ext cx="2103120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17222D"/>
                </a:solidFill>
                <a:latin typeface="Aptos"/>
              </a:rPr>
              <a:t>choisit,
enchaîne,
vérifie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45167" y="1993392"/>
            <a:ext cx="2468880" cy="2514600"/>
          </a:xfrm>
          <a:prstGeom prst="roundRect">
            <a:avLst/>
          </a:prstGeom>
          <a:solidFill>
            <a:srgbClr val="FCF3EA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9838943" y="2249424"/>
            <a:ext cx="1481328" cy="31089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838943" y="2276856"/>
            <a:ext cx="148132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215472"/>
                </a:solidFill>
                <a:latin typeface="Aptos"/>
              </a:rPr>
              <a:t>UI / 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8047" y="2798064"/>
            <a:ext cx="2103120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17222D"/>
                </a:solidFill>
                <a:latin typeface="Aptos"/>
              </a:rPr>
              <a:t>rend le système
visible et
pilotable</a:t>
            </a:r>
          </a:p>
        </p:txBody>
      </p:sp>
      <p:sp>
        <p:nvSpPr>
          <p:cNvPr id="21" name="Chevron 20"/>
          <p:cNvSpPr/>
          <p:nvPr/>
        </p:nvSpPr>
        <p:spPr>
          <a:xfrm>
            <a:off x="3310128" y="3072384"/>
            <a:ext cx="274320" cy="256032"/>
          </a:xfrm>
          <a:prstGeom prst="chevron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Chevron 21"/>
          <p:cNvSpPr/>
          <p:nvPr/>
        </p:nvSpPr>
        <p:spPr>
          <a:xfrm>
            <a:off x="6163056" y="3072384"/>
            <a:ext cx="274320" cy="256032"/>
          </a:xfrm>
          <a:prstGeom prst="chevron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Chevron 22"/>
          <p:cNvSpPr/>
          <p:nvPr/>
        </p:nvSpPr>
        <p:spPr>
          <a:xfrm>
            <a:off x="9015984" y="3072384"/>
            <a:ext cx="274320" cy="256032"/>
          </a:xfrm>
          <a:prstGeom prst="chevron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896112" y="4535424"/>
            <a:ext cx="4800600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78992" y="4690872"/>
            <a:ext cx="4443984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BF5A24"/>
                </a:solidFill>
                <a:latin typeface="Aptos"/>
              </a:rPr>
              <a:t>Message clé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" y="4946904"/>
            <a:ext cx="4443984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215472"/>
                </a:solidFill>
                <a:latin typeface="Aptos"/>
              </a:rPr>
              <a:t>Le gain visible n’est pas dans la couche modèle seule.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89320" y="4535424"/>
            <a:ext cx="5285232" cy="987552"/>
          </a:xfrm>
          <a:prstGeom prst="roundRect">
            <a:avLst/>
          </a:prstGeom>
          <a:solidFill>
            <a:srgbClr val="F9F3EC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199632" y="4690872"/>
            <a:ext cx="486460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BF5A24"/>
                </a:solidFill>
                <a:latin typeface="Aptos"/>
              </a:rPr>
              <a:t>Cas AGILab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99632" y="4946904"/>
            <a:ext cx="4864608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215472"/>
                </a:solidFill>
                <a:latin typeface="Aptos"/>
              </a:rPr>
              <a:t>AGENTS.md + skills + scripts renforcent surtout la couche agent.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603504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215472"/>
                </a:solidFill>
                <a:latin typeface="Aptos"/>
              </a:rPr>
              <a:t>3. La montée réelle de productivité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117043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E656B"/>
                </a:solidFill>
                <a:latin typeface="Aptos"/>
              </a:rPr>
              <a:t>Même modèle. Trois niveaux de valeur très différents.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9344"/>
            <a:ext cx="1645920" cy="45720"/>
          </a:xfrm>
          <a:prstGeom prst="rect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22960" y="1901952"/>
            <a:ext cx="2926080" cy="2468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042416" y="2066544"/>
            <a:ext cx="1078992" cy="310896"/>
          </a:xfrm>
          <a:prstGeom prst="roundRect">
            <a:avLst/>
          </a:prstGeom>
          <a:solidFill>
            <a:srgbClr val="F5ECE1"/>
          </a:solidFill>
          <a:ln w="15240">
            <a:solidFill>
              <a:srgbClr val="F5E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42416" y="2093976"/>
            <a:ext cx="107899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BF5A24"/>
                </a:solidFill>
                <a:latin typeface="Aptos"/>
              </a:rPr>
              <a:t>NIVEAU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" y="2468880"/>
            <a:ext cx="248716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215472"/>
                </a:solidFill>
                <a:latin typeface="Aptos"/>
              </a:rPr>
              <a:t>Chatbot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" y="2889504"/>
            <a:ext cx="248716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BF5A24"/>
                </a:solidFill>
                <a:latin typeface="Aptos"/>
              </a:rPr>
              <a:t>répond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" y="3291840"/>
            <a:ext cx="2304288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dirty="0">
                <a:solidFill>
                  <a:srgbClr val="5E656B"/>
                </a:solidFill>
                <a:latin typeface="Aptos"/>
              </a:rPr>
              <a:t>• copier-</a:t>
            </a:r>
            <a:r>
              <a:rPr sz="1400" b="0" dirty="0" err="1">
                <a:solidFill>
                  <a:srgbClr val="5E656B"/>
                </a:solidFill>
                <a:latin typeface="Aptos"/>
              </a:rPr>
              <a:t>coller</a:t>
            </a:r>
            <a:r>
              <a:rPr sz="1400" b="0" dirty="0">
                <a:solidFill>
                  <a:srgbClr val="5E656B"/>
                </a:solidFill>
                <a:latin typeface="Aptos"/>
              </a:rPr>
              <a:t>
• tests </a:t>
            </a:r>
            <a:r>
              <a:rPr sz="1400" b="0" dirty="0" err="1">
                <a:solidFill>
                  <a:srgbClr val="5E656B"/>
                </a:solidFill>
                <a:latin typeface="Aptos"/>
              </a:rPr>
              <a:t>manuels</a:t>
            </a:r>
            <a:endParaRPr sz="1400" b="0" dirty="0">
              <a:solidFill>
                <a:srgbClr val="5E656B"/>
              </a:solidFill>
              <a:latin typeface="Aptos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1554480" y="3877056"/>
            <a:ext cx="1463040" cy="310896"/>
          </a:xfrm>
          <a:prstGeom prst="roundRect">
            <a:avLst/>
          </a:prstGeom>
          <a:solidFill>
            <a:srgbClr val="F5ECE1"/>
          </a:solidFill>
          <a:ln w="15240">
            <a:solidFill>
              <a:srgbClr val="F5E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554480" y="3904488"/>
            <a:ext cx="1463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BF5A24"/>
                </a:solidFill>
                <a:latin typeface="Aptos"/>
              </a:rPr>
              <a:t>GAIN LIMITÉ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05072" y="1901952"/>
            <a:ext cx="2926080" cy="2468880"/>
          </a:xfrm>
          <a:prstGeom prst="roundRect">
            <a:avLst/>
          </a:prstGeom>
          <a:solidFill>
            <a:srgbClr val="FFFAF4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224528" y="2066544"/>
            <a:ext cx="1078992" cy="310896"/>
          </a:xfrm>
          <a:prstGeom prst="roundRect">
            <a:avLst/>
          </a:prstGeom>
          <a:solidFill>
            <a:srgbClr val="F5ECE1"/>
          </a:solidFill>
          <a:ln w="15240">
            <a:solidFill>
              <a:srgbClr val="F5E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224528" y="2093976"/>
            <a:ext cx="107899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BF5A24"/>
                </a:solidFill>
                <a:latin typeface="Aptos"/>
              </a:rPr>
              <a:t>NIVEAU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2468880"/>
            <a:ext cx="248716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215472"/>
                </a:solidFill>
                <a:latin typeface="Aptos"/>
              </a:rPr>
              <a:t>Plugin 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24528" y="2889504"/>
            <a:ext cx="248716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BF5A24"/>
                </a:solidFill>
                <a:latin typeface="Aptos"/>
              </a:rPr>
              <a:t>édite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15968" y="3291840"/>
            <a:ext cx="2304288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5E656B"/>
                </a:solidFill>
                <a:latin typeface="Aptos"/>
              </a:rPr>
              <a:t>• contexte local
• itération rapide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36592" y="3877056"/>
            <a:ext cx="1463040" cy="310896"/>
          </a:xfrm>
          <a:prstGeom prst="roundRect">
            <a:avLst/>
          </a:prstGeom>
          <a:solidFill>
            <a:srgbClr val="F5ECE1"/>
          </a:solidFill>
          <a:ln w="15240">
            <a:solidFill>
              <a:srgbClr val="F5E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736592" y="3904488"/>
            <a:ext cx="1463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BF5A24"/>
                </a:solidFill>
                <a:latin typeface="Aptos"/>
              </a:rPr>
              <a:t>GAIN MOYEN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87184" y="1901952"/>
            <a:ext cx="3291840" cy="2468880"/>
          </a:xfrm>
          <a:prstGeom prst="roundRect">
            <a:avLst/>
          </a:prstGeom>
          <a:solidFill>
            <a:srgbClr val="FFF8EE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7406640" y="2066544"/>
            <a:ext cx="1078992" cy="310896"/>
          </a:xfrm>
          <a:prstGeom prst="roundRect">
            <a:avLst/>
          </a:prstGeom>
          <a:solidFill>
            <a:srgbClr val="F5ECE1"/>
          </a:solidFill>
          <a:ln w="15240">
            <a:solidFill>
              <a:srgbClr val="F5E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406640" y="2093976"/>
            <a:ext cx="107899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BF5A24"/>
                </a:solidFill>
                <a:latin typeface="Aptos"/>
              </a:rPr>
              <a:t>NIVEAU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640" y="2468880"/>
            <a:ext cx="285292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215472"/>
                </a:solidFill>
                <a:latin typeface="Aptos"/>
              </a:rPr>
              <a:t>Agent multi-skill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40" y="2889504"/>
            <a:ext cx="285292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BF5A24"/>
                </a:solidFill>
                <a:latin typeface="Aptos"/>
              </a:rPr>
              <a:t>orchestre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0" y="3291840"/>
            <a:ext cx="2670048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5E656B"/>
                </a:solidFill>
                <a:latin typeface="Aptos"/>
              </a:rPr>
              <a:t>• repo + skills
• scripts + vérification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01584" y="3877056"/>
            <a:ext cx="1463040" cy="310896"/>
          </a:xfrm>
          <a:prstGeom prst="roundRect">
            <a:avLst/>
          </a:prstGeom>
          <a:solidFill>
            <a:srgbClr val="F5ECE1"/>
          </a:solidFill>
          <a:ln w="15240">
            <a:solidFill>
              <a:srgbClr val="F5E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101584" y="3904488"/>
            <a:ext cx="1463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BF5A24"/>
                </a:solidFill>
                <a:latin typeface="Aptos"/>
              </a:rPr>
              <a:t>GAIN FORT</a:t>
            </a:r>
          </a:p>
        </p:txBody>
      </p:sp>
      <p:sp>
        <p:nvSpPr>
          <p:cNvPr id="29" name="Chevron 28"/>
          <p:cNvSpPr/>
          <p:nvPr/>
        </p:nvSpPr>
        <p:spPr>
          <a:xfrm>
            <a:off x="1371600" y="4736592"/>
            <a:ext cx="9052560" cy="384048"/>
          </a:xfrm>
          <a:prstGeom prst="chevron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417320" y="5157216"/>
            <a:ext cx="89611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BF5A24"/>
                </a:solidFill>
                <a:latin typeface="Aptos"/>
              </a:rPr>
              <a:t>Plus on retire l’orchestration à l’humain, plus le gain change d’échelle.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603504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215472"/>
                </a:solidFill>
                <a:latin typeface="Aptos"/>
              </a:rPr>
              <a:t>4. Pourquoi AGILab est un bon cas d’école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117043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E656B"/>
                </a:solidFill>
                <a:latin typeface="Aptos"/>
              </a:rPr>
              <a:t>Dans un repo riche, le coût d’orchestration devient visible immédiatement.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9344"/>
            <a:ext cx="1645920" cy="45720"/>
          </a:xfrm>
          <a:prstGeom prst="rect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68680" y="2148840"/>
            <a:ext cx="25603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24871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215472"/>
                </a:solidFill>
                <a:latin typeface="Aptos"/>
              </a:rPr>
              <a:t>Demande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" y="3063240"/>
            <a:ext cx="22402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1A1F24"/>
                </a:solidFill>
                <a:latin typeface="Aptos"/>
              </a:rPr>
              <a:t>corriger une page
ou un formulaire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60520" y="2148840"/>
            <a:ext cx="25603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343400" y="24871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215472"/>
                </a:solidFill>
                <a:latin typeface="Aptos"/>
              </a:rPr>
              <a:t>Guidage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5112" y="3063240"/>
            <a:ext cx="22402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1A1F24"/>
                </a:solidFill>
                <a:latin typeface="Aptos"/>
              </a:rPr>
              <a:t>prompt
AGENTS.md
skills du repo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52360" y="2148840"/>
            <a:ext cx="25603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635240" y="24871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215472"/>
                </a:solidFill>
                <a:latin typeface="Aptos"/>
              </a:rPr>
              <a:t>Sortie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16952" y="3063240"/>
            <a:ext cx="22402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1A1F24"/>
                </a:solidFill>
                <a:latin typeface="Aptos"/>
              </a:rPr>
              <a:t>patch plus fiable
et validation ciblée</a:t>
            </a:r>
          </a:p>
        </p:txBody>
      </p:sp>
      <p:sp>
        <p:nvSpPr>
          <p:cNvPr id="14" name="Chevron 13"/>
          <p:cNvSpPr/>
          <p:nvPr/>
        </p:nvSpPr>
        <p:spPr>
          <a:xfrm>
            <a:off x="3520440" y="2953512"/>
            <a:ext cx="384048" cy="347472"/>
          </a:xfrm>
          <a:prstGeom prst="chevron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Chevron 14"/>
          <p:cNvSpPr/>
          <p:nvPr/>
        </p:nvSpPr>
        <p:spPr>
          <a:xfrm>
            <a:off x="6812280" y="2953512"/>
            <a:ext cx="384048" cy="347472"/>
          </a:xfrm>
          <a:prstGeom prst="chevron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914400" y="4608576"/>
            <a:ext cx="10058400" cy="768096"/>
          </a:xfrm>
          <a:prstGeom prst="roundRect">
            <a:avLst/>
          </a:prstGeom>
          <a:solidFill>
            <a:srgbClr val="F5ECE1"/>
          </a:solidFill>
          <a:ln w="15240">
            <a:solidFill>
              <a:srgbClr val="F5E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43000" y="4791456"/>
            <a:ext cx="960120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BF5A24"/>
                </a:solidFill>
                <a:latin typeface="Aptos"/>
              </a:rPr>
              <a:t>AGILab montre bien où un agent apporte de la valeur : il rappelle comment bien travailler dans ce repo.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5486400"/>
            <a:ext cx="10058400" cy="67665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188720" y="5650992"/>
            <a:ext cx="95097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215472"/>
                </a:solidFill>
                <a:latin typeface="Aptos"/>
              </a:rPr>
              <a:t>Benchmark lisible : PandasWorker = process, PolarsWorker = threads, même workload, exécution rendue explicite.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603504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215472"/>
                </a:solidFill>
                <a:latin typeface="Aptos"/>
              </a:rPr>
              <a:t>5. Pourquoi Codex CLI devient performant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117043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E656B"/>
                </a:solidFill>
                <a:latin typeface="Aptos"/>
              </a:rPr>
              <a:t>Son intérêt : agir avec le bon contexte, pas tout lire ni tout improviser.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9344"/>
            <a:ext cx="1645920" cy="45720"/>
          </a:xfrm>
          <a:prstGeom prst="rect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86384" y="2359152"/>
            <a:ext cx="2267712" cy="11704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700784" y="1993392"/>
            <a:ext cx="566928" cy="329184"/>
          </a:xfrm>
          <a:prstGeom prst="roundRect">
            <a:avLst/>
          </a:prstGeom>
          <a:solidFill>
            <a:srgbClr val="BF5A24"/>
          </a:solidFill>
          <a:ln w="15240">
            <a:solidFill>
              <a:srgbClr val="BF5A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700784" y="2020824"/>
            <a:ext cx="566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788920"/>
            <a:ext cx="206654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1A1F24"/>
                </a:solidFill>
                <a:latin typeface="Aptos"/>
              </a:rPr>
              <a:t>métadonnées repo</a:t>
            </a:r>
          </a:p>
        </p:txBody>
      </p:sp>
      <p:sp>
        <p:nvSpPr>
          <p:cNvPr id="9" name="Chevron 8"/>
          <p:cNvSpPr/>
          <p:nvPr/>
        </p:nvSpPr>
        <p:spPr>
          <a:xfrm>
            <a:off x="3227832" y="2852928"/>
            <a:ext cx="274320" cy="201168"/>
          </a:xfrm>
          <a:prstGeom prst="chevron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575303" y="2359152"/>
            <a:ext cx="2267712" cy="11704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489703" y="1993392"/>
            <a:ext cx="566928" cy="329184"/>
          </a:xfrm>
          <a:prstGeom prst="roundRect">
            <a:avLst/>
          </a:prstGeom>
          <a:solidFill>
            <a:srgbClr val="BF5A24"/>
          </a:solidFill>
          <a:ln w="15240">
            <a:solidFill>
              <a:srgbClr val="BF5A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89703" y="2020824"/>
            <a:ext cx="566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21607" y="2788920"/>
            <a:ext cx="206654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1A1F24"/>
                </a:solidFill>
                <a:latin typeface="Aptos"/>
              </a:rPr>
              <a:t>SKILL.md</a:t>
            </a:r>
          </a:p>
        </p:txBody>
      </p:sp>
      <p:sp>
        <p:nvSpPr>
          <p:cNvPr id="14" name="Chevron 13"/>
          <p:cNvSpPr/>
          <p:nvPr/>
        </p:nvSpPr>
        <p:spPr>
          <a:xfrm>
            <a:off x="6016752" y="2852928"/>
            <a:ext cx="274320" cy="201168"/>
          </a:xfrm>
          <a:prstGeom prst="chevron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364224" y="2359152"/>
            <a:ext cx="2267712" cy="11704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7278624" y="1993392"/>
            <a:ext cx="566928" cy="329184"/>
          </a:xfrm>
          <a:prstGeom prst="roundRect">
            <a:avLst/>
          </a:prstGeom>
          <a:solidFill>
            <a:srgbClr val="BF5A24"/>
          </a:solidFill>
          <a:ln w="15240">
            <a:solidFill>
              <a:srgbClr val="BF5A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78624" y="2020824"/>
            <a:ext cx="566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8" y="2788920"/>
            <a:ext cx="206654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1A1F24"/>
                </a:solidFill>
                <a:latin typeface="Aptos"/>
              </a:rPr>
              <a:t>scripts utiles</a:t>
            </a:r>
          </a:p>
        </p:txBody>
      </p:sp>
      <p:sp>
        <p:nvSpPr>
          <p:cNvPr id="19" name="Chevron 18"/>
          <p:cNvSpPr/>
          <p:nvPr/>
        </p:nvSpPr>
        <p:spPr>
          <a:xfrm>
            <a:off x="8805672" y="2852928"/>
            <a:ext cx="274320" cy="201168"/>
          </a:xfrm>
          <a:prstGeom prst="chevron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9153143" y="2359152"/>
            <a:ext cx="2267712" cy="11704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0067543" y="1993392"/>
            <a:ext cx="566928" cy="329184"/>
          </a:xfrm>
          <a:prstGeom prst="roundRect">
            <a:avLst/>
          </a:prstGeom>
          <a:solidFill>
            <a:srgbClr val="BF5A24"/>
          </a:solidFill>
          <a:ln w="15240">
            <a:solidFill>
              <a:srgbClr val="BF5A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067543" y="2020824"/>
            <a:ext cx="566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99447" y="2788920"/>
            <a:ext cx="206654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1A1F24"/>
                </a:solidFill>
                <a:latin typeface="Aptos"/>
              </a:rPr>
              <a:t>exécution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51560" y="4590288"/>
            <a:ext cx="10012680" cy="749808"/>
          </a:xfrm>
          <a:prstGeom prst="roundRect">
            <a:avLst/>
          </a:prstGeom>
          <a:solidFill>
            <a:srgbClr val="F4ECE0"/>
          </a:solidFill>
          <a:ln w="15240">
            <a:solidFill>
              <a:srgbClr val="F4E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298448" y="4800600"/>
            <a:ext cx="9509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BF5A24"/>
                </a:solidFill>
                <a:latin typeface="Aptos"/>
              </a:rPr>
              <a:t>Progressive disclosure : Codex n’ouvre que ce qui est utile, au moment utile.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603504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215472"/>
                </a:solidFill>
                <a:latin typeface="Aptos"/>
              </a:rPr>
              <a:t>6. Ce qu’un skill apporte vraiment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117043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E656B"/>
                </a:solidFill>
                <a:latin typeface="Aptos"/>
              </a:rPr>
              <a:t>Le skill transforme une tâche vague en workflow reproductible.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9344"/>
            <a:ext cx="1645920" cy="45720"/>
          </a:xfrm>
          <a:prstGeom prst="rect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41248" y="2084831"/>
            <a:ext cx="3063240" cy="26060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24128" y="2395728"/>
            <a:ext cx="2697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BF5A24"/>
                </a:solidFill>
                <a:latin typeface="Aptos"/>
              </a:rPr>
              <a:t>scripts/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18488" y="2852927"/>
            <a:ext cx="1463040" cy="482317"/>
          </a:xfrm>
          <a:prstGeom prst="roundRect">
            <a:avLst/>
          </a:prstGeom>
          <a:solidFill>
            <a:srgbClr val="F5ECE1"/>
          </a:solidFill>
          <a:ln w="15240">
            <a:solidFill>
              <a:srgbClr val="F5E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8" name="TextBox 7"/>
          <p:cNvSpPr txBox="1"/>
          <p:nvPr/>
        </p:nvSpPr>
        <p:spPr>
          <a:xfrm>
            <a:off x="1618488" y="2827810"/>
            <a:ext cx="146304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dirty="0" err="1">
                <a:solidFill>
                  <a:srgbClr val="BF5A24"/>
                </a:solidFill>
                <a:latin typeface="Aptos"/>
              </a:rPr>
              <a:t>exécute</a:t>
            </a:r>
            <a:endParaRPr sz="2400" b="1" dirty="0">
              <a:solidFill>
                <a:srgbClr val="BF5A24"/>
              </a:solidFill>
              <a:latin typeface="Apto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115568" y="3456432"/>
            <a:ext cx="2514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dirty="0">
                <a:solidFill>
                  <a:srgbClr val="5E656B"/>
                </a:solidFill>
                <a:latin typeface="Aptos"/>
              </a:rPr>
              <a:t>CLI </a:t>
            </a:r>
            <a:r>
              <a:rPr sz="1800" b="0" dirty="0" err="1">
                <a:solidFill>
                  <a:srgbClr val="5E656B"/>
                </a:solidFill>
                <a:latin typeface="Aptos"/>
              </a:rPr>
              <a:t>déterministe</a:t>
            </a:r>
            <a:r>
              <a:rPr sz="1800" b="0" dirty="0">
                <a:solidFill>
                  <a:srgbClr val="5E656B"/>
                </a:solidFill>
                <a:latin typeface="Aptos"/>
              </a:rPr>
              <a:t>
</a:t>
            </a:r>
            <a:r>
              <a:rPr sz="1800" b="0" dirty="0" err="1">
                <a:solidFill>
                  <a:srgbClr val="5E656B"/>
                </a:solidFill>
                <a:latin typeface="Aptos"/>
              </a:rPr>
              <a:t>run_eval.py</a:t>
            </a:r>
            <a:r>
              <a:rPr sz="1800" b="0" dirty="0">
                <a:solidFill>
                  <a:srgbClr val="5E656B"/>
                </a:solidFill>
                <a:latin typeface="Aptos"/>
              </a:rPr>
              <a:t>
</a:t>
            </a:r>
            <a:r>
              <a:rPr sz="1800" b="0" dirty="0" err="1">
                <a:solidFill>
                  <a:srgbClr val="5E656B"/>
                </a:solidFill>
                <a:latin typeface="Aptos"/>
              </a:rPr>
              <a:t>collect_metrics.py</a:t>
            </a:r>
            <a:endParaRPr sz="1800" b="0" dirty="0">
              <a:solidFill>
                <a:srgbClr val="5E656B"/>
              </a:solidFill>
              <a:latin typeface="Aptos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4526280" y="2084831"/>
            <a:ext cx="3063240" cy="26060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709160" y="2395728"/>
            <a:ext cx="2697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BF5A24"/>
                </a:solidFill>
                <a:latin typeface="Aptos"/>
              </a:rPr>
              <a:t>references/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03520" y="2852927"/>
            <a:ext cx="1463040" cy="482317"/>
          </a:xfrm>
          <a:prstGeom prst="roundRect">
            <a:avLst/>
          </a:prstGeom>
          <a:solidFill>
            <a:srgbClr val="F5ECE1"/>
          </a:solidFill>
          <a:ln w="15240">
            <a:solidFill>
              <a:srgbClr val="F5E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13" name="TextBox 12"/>
          <p:cNvSpPr txBox="1"/>
          <p:nvPr/>
        </p:nvSpPr>
        <p:spPr>
          <a:xfrm>
            <a:off x="5303520" y="2880360"/>
            <a:ext cx="146304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BF5A24"/>
                </a:solidFill>
                <a:latin typeface="Aptos"/>
              </a:rPr>
              <a:t>cadre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3456432"/>
            <a:ext cx="2514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5E656B"/>
                </a:solidFill>
                <a:latin typeface="Aptos"/>
              </a:rPr>
              <a:t>protocoles
checklists
métriques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11312" y="2084831"/>
            <a:ext cx="3063240" cy="2606040"/>
          </a:xfrm>
          <a:prstGeom prst="roundRect">
            <a:avLst/>
          </a:prstGeom>
          <a:solidFill>
            <a:srgbClr val="F9F3EC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94192" y="2395728"/>
            <a:ext cx="2697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BF5A24"/>
                </a:solidFill>
                <a:latin typeface="Aptos"/>
              </a:rPr>
              <a:t>assets/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88552" y="2852927"/>
            <a:ext cx="1463040" cy="482317"/>
          </a:xfrm>
          <a:prstGeom prst="roundRect">
            <a:avLst/>
          </a:prstGeom>
          <a:solidFill>
            <a:srgbClr val="F5ECE1"/>
          </a:solidFill>
          <a:ln w="15240">
            <a:solidFill>
              <a:srgbClr val="F5E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18" name="TextBox 17"/>
          <p:cNvSpPr txBox="1"/>
          <p:nvPr/>
        </p:nvSpPr>
        <p:spPr>
          <a:xfrm>
            <a:off x="8988552" y="2880360"/>
            <a:ext cx="146304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BF5A24"/>
                </a:solidFill>
                <a:latin typeface="Aptos"/>
              </a:rPr>
              <a:t>fournit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85632" y="3456432"/>
            <a:ext cx="2514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5E656B"/>
                </a:solidFill>
                <a:latin typeface="Aptos"/>
              </a:rPr>
              <a:t>templates
exemples d’input
ressources locales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603504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215472"/>
                </a:solidFill>
                <a:latin typeface="Aptos"/>
              </a:rPr>
              <a:t>7. Pourquoi Codex ne met pas les skills à jour tout seul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117043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E656B"/>
                </a:solidFill>
                <a:latin typeface="Aptos"/>
              </a:rPr>
              <a:t>Plus d’autonomie ne veut pas dire réécriture silencieuse du repo.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9344"/>
            <a:ext cx="1645920" cy="45720"/>
          </a:xfrm>
          <a:prstGeom prst="rect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14400" y="2057400"/>
            <a:ext cx="4572000" cy="2468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188720" y="2331720"/>
            <a:ext cx="1554480" cy="384048"/>
          </a:xfrm>
          <a:prstGeom prst="roundRect">
            <a:avLst/>
          </a:prstGeom>
          <a:solidFill>
            <a:srgbClr val="F5ECE1"/>
          </a:solidFill>
          <a:ln w="15240">
            <a:solidFill>
              <a:srgbClr val="F5E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88720" y="2359152"/>
            <a:ext cx="155448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dirty="0">
                <a:solidFill>
                  <a:srgbClr val="BF5A24"/>
                </a:solidFill>
                <a:latin typeface="Aptos"/>
              </a:rPr>
              <a:t>AUTONOMIE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880360"/>
            <a:ext cx="3931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100" b="1">
                <a:solidFill>
                  <a:srgbClr val="215472"/>
                </a:solidFill>
                <a:latin typeface="Aptos"/>
              </a:rPr>
              <a:t>oui pour lire,
choisir, lancer et vérifier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29400" y="2057400"/>
            <a:ext cx="4572000" cy="2468880"/>
          </a:xfrm>
          <a:prstGeom prst="roundRect">
            <a:avLst/>
          </a:prstGeom>
          <a:solidFill>
            <a:srgbClr val="F9F3EC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931152" y="2331720"/>
            <a:ext cx="2843468" cy="384048"/>
          </a:xfrm>
          <a:prstGeom prst="roundRect">
            <a:avLst/>
          </a:prstGeom>
          <a:solidFill>
            <a:srgbClr val="F5ECE1"/>
          </a:solidFill>
          <a:ln w="15240">
            <a:solidFill>
              <a:srgbClr val="F5E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931151" y="2359152"/>
            <a:ext cx="2843469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dirty="0">
                <a:solidFill>
                  <a:srgbClr val="BF5A24"/>
                </a:solidFill>
                <a:latin typeface="Aptos"/>
              </a:rPr>
              <a:t>RÉÉCRITURE SILENCIEUSE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20" y="2880360"/>
            <a:ext cx="3977639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100" b="1">
                <a:solidFill>
                  <a:srgbClr val="215472"/>
                </a:solidFill>
                <a:latin typeface="Aptos"/>
              </a:rPr>
              <a:t>non pour modifier seul
les règles du repo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956048"/>
            <a:ext cx="10058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5E656B"/>
                </a:solidFill>
                <a:latin typeface="Aptos"/>
              </a:rPr>
              <a:t>Pourquoi : pas de dérive silencieuse, pas de surprise côté repo, amélioration volontaire.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603504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215472"/>
                </a:solidFill>
                <a:latin typeface="Aptos"/>
              </a:rPr>
              <a:t>8. Code Companion V3 vs Codex CLI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117043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E656B"/>
                </a:solidFill>
                <a:latin typeface="Aptos"/>
              </a:rPr>
              <a:t>Le plugin fait gagner du temps dans l’IDE. L’agent fait gagner des étapes de travail.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9344"/>
            <a:ext cx="1645920" cy="45720"/>
          </a:xfrm>
          <a:prstGeom prst="rect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41248" y="1920240"/>
            <a:ext cx="4709160" cy="27614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2304288"/>
            <a:ext cx="41605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15472"/>
                </a:solidFill>
                <a:latin typeface="Aptos"/>
              </a:rPr>
              <a:t>Code Companion V3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697480"/>
            <a:ext cx="39319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A1F24"/>
                </a:solidFill>
                <a:latin typeface="Aptos"/>
              </a:rPr>
              <a:t>assistant IDE sécurisé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" y="3182112"/>
            <a:ext cx="38404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5E656B"/>
                </a:solidFill>
                <a:latin typeface="Aptos"/>
              </a:rPr>
              <a:t>• édition locale rapide
• bon pour itérer
• l’humain orchestre encore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920240"/>
            <a:ext cx="4709160" cy="2761488"/>
          </a:xfrm>
          <a:prstGeom prst="roundRect">
            <a:avLst/>
          </a:prstGeom>
          <a:solidFill>
            <a:srgbClr val="F9F3EC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28232" y="2304288"/>
            <a:ext cx="41605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BF5A24"/>
                </a:solidFill>
                <a:latin typeface="Aptos"/>
              </a:rPr>
              <a:t>Codex CLI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8232" y="2697480"/>
            <a:ext cx="39319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A1F24"/>
                </a:solidFill>
                <a:latin typeface="Aptos"/>
              </a:rPr>
              <a:t>agent terminal orienté repo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3182112"/>
            <a:ext cx="38404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5E656B"/>
                </a:solidFill>
                <a:latin typeface="Aptos"/>
              </a:rPr>
              <a:t>• analyse plusieurs fichiers
• lance scripts et vérifications
• enchaîne le workflow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4992624"/>
            <a:ext cx="10469880" cy="694944"/>
          </a:xfrm>
          <a:prstGeom prst="roundRect">
            <a:avLst/>
          </a:prstGeom>
          <a:solidFill>
            <a:srgbClr val="F5ECE1"/>
          </a:solidFill>
          <a:ln w="15240">
            <a:solidFill>
              <a:srgbClr val="F5E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78992" y="5230368"/>
            <a:ext cx="100584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215472"/>
                </a:solidFill>
                <a:latin typeface="Aptos"/>
              </a:rPr>
              <a:t>Le plugin fait gagner du temps. L’agent fait gagner des étapes de travail.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603504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215472"/>
                </a:solidFill>
                <a:latin typeface="Aptos"/>
              </a:rPr>
              <a:t>9. Quand utiliser quoi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117043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E656B"/>
                </a:solidFill>
                <a:latin typeface="Aptos"/>
              </a:rPr>
              <a:t>Même équipe, mêmes modèles, mais pas le même niveau d’orchestration.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9344"/>
            <a:ext cx="1645920" cy="45720"/>
          </a:xfrm>
          <a:prstGeom prst="rect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14400" y="2148840"/>
            <a:ext cx="4206240" cy="2651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086600" y="2148840"/>
            <a:ext cx="4206240" cy="2651760"/>
          </a:xfrm>
          <a:prstGeom prst="roundRect">
            <a:avLst/>
          </a:prstGeom>
          <a:solidFill>
            <a:srgbClr val="F9F3EC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70432" y="2542032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215472"/>
                </a:solidFill>
                <a:latin typeface="Aptos"/>
              </a:rPr>
              <a:t>Code Companion V3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15468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1A1F24"/>
                </a:solidFill>
                <a:latin typeface="Aptos"/>
              </a:rPr>
              <a:t>question locale
édition rapide
itération dans l’IDE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42631" y="2542032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BF5A24"/>
                </a:solidFill>
                <a:latin typeface="Aptos"/>
              </a:rPr>
              <a:t>Codex CLI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315468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1A1F24"/>
                </a:solidFill>
                <a:latin typeface="Aptos"/>
              </a:rPr>
              <a:t>workflow complet
tâche longue
validation et enchaînement</a:t>
            </a:r>
          </a:p>
        </p:txBody>
      </p:sp>
      <p:sp>
        <p:nvSpPr>
          <p:cNvPr id="11" name="Chevron 10"/>
          <p:cNvSpPr/>
          <p:nvPr/>
        </p:nvSpPr>
        <p:spPr>
          <a:xfrm>
            <a:off x="5394960" y="3063240"/>
            <a:ext cx="1325880" cy="713232"/>
          </a:xfrm>
          <a:prstGeom prst="chevron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694944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215472"/>
                </a:solidFill>
                <a:latin typeface="Aptos"/>
              </a:rPr>
              <a:t>10. À retenir</a:t>
            </a:r>
          </a:p>
        </p:txBody>
      </p:sp>
      <p:sp>
        <p:nvSpPr>
          <p:cNvPr id="3" name="Rectangle 2"/>
          <p:cNvSpPr/>
          <p:nvPr/>
        </p:nvSpPr>
        <p:spPr>
          <a:xfrm>
            <a:off x="749808" y="1627632"/>
            <a:ext cx="1645920" cy="45720"/>
          </a:xfrm>
          <a:prstGeom prst="rect">
            <a:avLst/>
          </a:prstGeom>
          <a:solidFill>
            <a:srgbClr val="BF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68680" y="1828800"/>
            <a:ext cx="10378440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70432" y="1938528"/>
            <a:ext cx="97840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17222D"/>
                </a:solidFill>
                <a:latin typeface="Aptos"/>
              </a:rPr>
              <a:t>Le vrai levier de productivité n’est pas le modèle seul.
C’est l’orchestration du travail.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3675887"/>
            <a:ext cx="3154680" cy="15544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3913632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BF5A24"/>
                </a:solidFill>
                <a:latin typeface="Aptos"/>
              </a:rPr>
              <a:t>Prompt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370832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>
                <a:solidFill>
                  <a:srgbClr val="1A1F24"/>
                </a:solidFill>
                <a:latin typeface="Aptos"/>
              </a:rPr>
              <a:t>cadre modèle, contexte
et sortie attendue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3675887"/>
            <a:ext cx="3154680" cy="15544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26280" y="3913632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BF5A24"/>
                </a:solidFill>
                <a:latin typeface="Aptos"/>
              </a:rPr>
              <a:t>Plugin 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4370832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>
                <a:solidFill>
                  <a:srgbClr val="1A1F24"/>
                </a:solidFill>
                <a:latin typeface="Aptos"/>
              </a:rPr>
              <a:t>accélère l’édition
et l’itération locale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18119" y="3675887"/>
            <a:ext cx="3154680" cy="15544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00999" y="3913632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BF5A24"/>
                </a:solidFill>
                <a:latin typeface="Aptos"/>
              </a:rPr>
              <a:t>Agent multi-skill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0999" y="4370832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>
                <a:solidFill>
                  <a:srgbClr val="1A1F24"/>
                </a:solidFill>
                <a:latin typeface="Aptos"/>
              </a:rPr>
              <a:t>enchaîne workflow,
scripts et vérification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650</Words>
  <Application>Microsoft Macintosh PowerPoint</Application>
  <PresentationFormat>Widescreen</PresentationFormat>
  <Paragraphs>114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agi</cp:lastModifiedBy>
  <cp:revision>2</cp:revision>
  <dcterms:created xsi:type="dcterms:W3CDTF">2013-01-27T09:14:16Z</dcterms:created>
  <dcterms:modified xsi:type="dcterms:W3CDTF">2026-04-13T11:26:49Z</dcterms:modified>
  <cp:category/>
</cp:coreProperties>
</file>