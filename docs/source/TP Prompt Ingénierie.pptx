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1. Le vrai rôle du Prompt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Le prompt ne cadre pas seulement le modèle. Il cadre le système d'exécution : modèle, boucle agentique et runtime.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22191" y="1828800"/>
            <a:ext cx="46177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17222D"/>
                </a:solidFill>
                <a:latin typeface="Aptos"/>
              </a:rPr>
              <a:t>Système cadré par le 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67712"/>
            <a:ext cx="2560320" cy="2999232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72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730752" y="2267712"/>
            <a:ext cx="4315968" cy="2999232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72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577072" y="2267712"/>
            <a:ext cx="2971800" cy="2999232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72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542032"/>
            <a:ext cx="2057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17222D"/>
                </a:solidFill>
                <a:latin typeface="Aptos"/>
              </a:rPr>
              <a:t>Couche modèle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" y="3163824"/>
            <a:ext cx="1810512" cy="859536"/>
          </a:xfrm>
          <a:prstGeom prst="roundRect">
            <a:avLst/>
          </a:prstGeom>
          <a:solidFill>
            <a:srgbClr val="FAD9B0"/>
          </a:solidFill>
          <a:ln w="15240">
            <a:solidFill>
              <a:srgbClr val="FAD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456432"/>
            <a:ext cx="16276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17222D"/>
                </a:solidFill>
                <a:latin typeface="Aptos"/>
              </a:rPr>
              <a:t>LLM de base</a:t>
            </a:r>
          </a:p>
        </p:txBody>
      </p:sp>
      <p:sp>
        <p:nvSpPr>
          <p:cNvPr id="12" name="Chevron 11"/>
          <p:cNvSpPr/>
          <p:nvPr/>
        </p:nvSpPr>
        <p:spPr>
          <a:xfrm rot="5400000">
            <a:off x="1764792" y="4078224"/>
            <a:ext cx="310896" cy="310896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24128" y="4462272"/>
            <a:ext cx="1810512" cy="859536"/>
          </a:xfrm>
          <a:prstGeom prst="roundRect">
            <a:avLst/>
          </a:prstGeom>
          <a:solidFill>
            <a:srgbClr val="FAD9B0"/>
          </a:solidFill>
          <a:ln w="15240">
            <a:solidFill>
              <a:srgbClr val="FAD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4681728"/>
            <a:ext cx="16276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17222D"/>
                </a:solidFill>
                <a:latin typeface="Aptos"/>
              </a:rPr>
              <a:t>LLM
reasoning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542032"/>
            <a:ext cx="24871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17222D"/>
                </a:solidFill>
                <a:latin typeface="Aptos"/>
              </a:rPr>
              <a:t>Boucle agentique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9663" y="3511296"/>
            <a:ext cx="1353312" cy="566928"/>
          </a:xfrm>
          <a:prstGeom prst="roundRect">
            <a:avLst/>
          </a:prstGeom>
          <a:solidFill>
            <a:srgbClr val="C5E1F5"/>
          </a:solidFill>
          <a:ln w="15240">
            <a:solidFill>
              <a:srgbClr val="C5E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69663" y="3666744"/>
            <a:ext cx="135331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0">
                <a:solidFill>
                  <a:srgbClr val="17222D"/>
                </a:solidFill>
                <a:latin typeface="Aptos"/>
              </a:rPr>
              <a:t>Inspecte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16752" y="3511296"/>
            <a:ext cx="1353312" cy="566928"/>
          </a:xfrm>
          <a:prstGeom prst="roundRect">
            <a:avLst/>
          </a:prstGeom>
          <a:solidFill>
            <a:srgbClr val="C5E1F5"/>
          </a:solidFill>
          <a:ln w="15240">
            <a:solidFill>
              <a:srgbClr val="C5E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16752" y="3666744"/>
            <a:ext cx="135331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0">
                <a:solidFill>
                  <a:srgbClr val="17222D"/>
                </a:solidFill>
                <a:latin typeface="Aptos"/>
              </a:rPr>
              <a:t>Choisit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9663" y="4590288"/>
            <a:ext cx="1353312" cy="566928"/>
          </a:xfrm>
          <a:prstGeom prst="roundRect">
            <a:avLst/>
          </a:prstGeom>
          <a:solidFill>
            <a:srgbClr val="C5E1F5"/>
          </a:solidFill>
          <a:ln w="15240">
            <a:solidFill>
              <a:srgbClr val="C5E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69663" y="4745736"/>
            <a:ext cx="135331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0">
                <a:solidFill>
                  <a:srgbClr val="17222D"/>
                </a:solidFill>
                <a:latin typeface="Aptos"/>
              </a:rPr>
              <a:t>Observe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16752" y="4590288"/>
            <a:ext cx="1353312" cy="566928"/>
          </a:xfrm>
          <a:prstGeom prst="roundRect">
            <a:avLst/>
          </a:prstGeom>
          <a:solidFill>
            <a:srgbClr val="C5E1F5"/>
          </a:solidFill>
          <a:ln w="15240">
            <a:solidFill>
              <a:srgbClr val="C5E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16752" y="4745736"/>
            <a:ext cx="135331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0">
                <a:solidFill>
                  <a:srgbClr val="17222D"/>
                </a:solidFill>
                <a:latin typeface="Aptos"/>
              </a:rPr>
              <a:t>Agit</a:t>
            </a:r>
          </a:p>
        </p:txBody>
      </p:sp>
      <p:sp>
        <p:nvSpPr>
          <p:cNvPr id="24" name="Chevron 23"/>
          <p:cNvSpPr/>
          <p:nvPr/>
        </p:nvSpPr>
        <p:spPr>
          <a:xfrm>
            <a:off x="5541264" y="3712463"/>
            <a:ext cx="256032" cy="164592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evron 24"/>
          <p:cNvSpPr/>
          <p:nvPr/>
        </p:nvSpPr>
        <p:spPr>
          <a:xfrm rot="5400000">
            <a:off x="6547104" y="4096512"/>
            <a:ext cx="164592" cy="256032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evron 25"/>
          <p:cNvSpPr/>
          <p:nvPr/>
        </p:nvSpPr>
        <p:spPr>
          <a:xfrm rot="10800000">
            <a:off x="5541264" y="4828032"/>
            <a:ext cx="256032" cy="164592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evron 26"/>
          <p:cNvSpPr/>
          <p:nvPr/>
        </p:nvSpPr>
        <p:spPr>
          <a:xfrm rot="16200000">
            <a:off x="4718304" y="4078224"/>
            <a:ext cx="164592" cy="256032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0" y="2542032"/>
            <a:ext cx="27249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17222D"/>
                </a:solidFill>
                <a:latin typeface="Aptos"/>
              </a:rPr>
              <a:t>Cadre d'exécution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78240" y="3456432"/>
            <a:ext cx="1261872" cy="530352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0" y="3538728"/>
            <a:ext cx="12618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7222D"/>
                </a:solidFill>
                <a:latin typeface="Aptos"/>
              </a:rPr>
              <a:t>Contexte
repo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13264" y="3456432"/>
            <a:ext cx="1261872" cy="530352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13264" y="3538728"/>
            <a:ext cx="12618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7222D"/>
                </a:solidFill>
                <a:latin typeface="Aptos"/>
              </a:rPr>
              <a:t>Outils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78240" y="4224528"/>
            <a:ext cx="1261872" cy="530352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0" y="4306824"/>
            <a:ext cx="12618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7222D"/>
                </a:solidFill>
                <a:latin typeface="Aptos"/>
              </a:rPr>
              <a:t>Permissions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113264" y="4224528"/>
            <a:ext cx="1261872" cy="530352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13264" y="4306824"/>
            <a:ext cx="12618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7222D"/>
                </a:solidFill>
                <a:latin typeface="Aptos"/>
              </a:rPr>
              <a:t>Mémoire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78240" y="4992624"/>
            <a:ext cx="1261872" cy="530352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78240" y="5074920"/>
            <a:ext cx="12618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7222D"/>
                </a:solidFill>
                <a:latin typeface="Aptos"/>
              </a:rPr>
              <a:t>Cache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113264" y="4992624"/>
            <a:ext cx="1261872" cy="530352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13264" y="5074920"/>
            <a:ext cx="12618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7222D"/>
                </a:solidFill>
                <a:latin typeface="Aptos"/>
              </a:rPr>
              <a:t>Exécution</a:t>
            </a:r>
          </a:p>
        </p:txBody>
      </p:sp>
      <p:sp>
        <p:nvSpPr>
          <p:cNvPr id="41" name="Chevron 40"/>
          <p:cNvSpPr/>
          <p:nvPr/>
        </p:nvSpPr>
        <p:spPr>
          <a:xfrm>
            <a:off x="3255264" y="3767328"/>
            <a:ext cx="310896" cy="256032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evron 41"/>
          <p:cNvSpPr/>
          <p:nvPr/>
        </p:nvSpPr>
        <p:spPr>
          <a:xfrm>
            <a:off x="8174736" y="3767328"/>
            <a:ext cx="310896" cy="256032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577840"/>
            <a:ext cx="10332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BF5A24"/>
                </a:solidFill>
                <a:latin typeface="Aptos"/>
              </a:rPr>
              <a:t>Le Prompt Engineering sert à cadrer la boucle, les outils, les règles d'exécution et le bon niveau de contexte.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2. Le landscape agentique en 4 couches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Le modèle calcule. Le framework organise. L’agent agit. L’UI expose.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86384" y="1993392"/>
            <a:ext cx="2468880" cy="2514600"/>
          </a:xfrm>
          <a:prstGeom prst="roundRect">
            <a:avLst/>
          </a:prstGeom>
          <a:solidFill>
            <a:srgbClr val="EAF3F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80160" y="2249424"/>
            <a:ext cx="1481328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276856"/>
            <a:ext cx="148132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15472"/>
                </a:solidFill>
                <a:latin typeface="Aptos"/>
              </a:rPr>
              <a:t>MODÈLE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798064"/>
            <a:ext cx="210312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7222D"/>
                </a:solidFill>
                <a:latin typeface="Aptos"/>
              </a:rPr>
              <a:t>produit texte,
code, plan,
résumé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9312" y="1993392"/>
            <a:ext cx="2468880" cy="2514600"/>
          </a:xfrm>
          <a:prstGeom prst="roundRect">
            <a:avLst/>
          </a:prstGeom>
          <a:solidFill>
            <a:srgbClr val="F0ECFB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33088" y="2249424"/>
            <a:ext cx="1481328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2276856"/>
            <a:ext cx="148132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15472"/>
                </a:solidFill>
                <a:latin typeface="Aptos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22192" y="2798064"/>
            <a:ext cx="210312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7222D"/>
                </a:solidFill>
                <a:latin typeface="Aptos"/>
              </a:rPr>
              <a:t>structure état,
outils, mémoire,
routing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1993392"/>
            <a:ext cx="2468880" cy="2514600"/>
          </a:xfrm>
          <a:prstGeom prst="roundRect">
            <a:avLst/>
          </a:prstGeom>
          <a:solidFill>
            <a:srgbClr val="F9EEE4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86016" y="2249424"/>
            <a:ext cx="1481328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86016" y="2276856"/>
            <a:ext cx="148132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15472"/>
                </a:solidFill>
                <a:latin typeface="Aptos"/>
              </a:rPr>
              <a:t>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798064"/>
            <a:ext cx="210312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7222D"/>
                </a:solidFill>
                <a:latin typeface="Aptos"/>
              </a:rPr>
              <a:t>choisit,
enchaîne,
vérifie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45167" y="1993392"/>
            <a:ext cx="2468880" cy="2514600"/>
          </a:xfrm>
          <a:prstGeom prst="roundRect">
            <a:avLst/>
          </a:prstGeom>
          <a:solidFill>
            <a:srgbClr val="FCF3EA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38943" y="2249424"/>
            <a:ext cx="1481328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38943" y="2276856"/>
            <a:ext cx="148132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15472"/>
                </a:solidFill>
                <a:latin typeface="Aptos"/>
              </a:rPr>
              <a:t>UI / 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7" y="2798064"/>
            <a:ext cx="210312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7222D"/>
                </a:solidFill>
                <a:latin typeface="Aptos"/>
              </a:rPr>
              <a:t>rend le système
visible et
pilotable</a:t>
            </a:r>
          </a:p>
        </p:txBody>
      </p:sp>
      <p:sp>
        <p:nvSpPr>
          <p:cNvPr id="21" name="Chevron 20"/>
          <p:cNvSpPr/>
          <p:nvPr/>
        </p:nvSpPr>
        <p:spPr>
          <a:xfrm>
            <a:off x="3017520" y="2999232"/>
            <a:ext cx="438912" cy="365760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evron 21"/>
          <p:cNvSpPr/>
          <p:nvPr/>
        </p:nvSpPr>
        <p:spPr>
          <a:xfrm>
            <a:off x="5870448" y="2999232"/>
            <a:ext cx="438912" cy="365760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evron 22"/>
          <p:cNvSpPr/>
          <p:nvPr/>
        </p:nvSpPr>
        <p:spPr>
          <a:xfrm>
            <a:off x="8723376" y="2999232"/>
            <a:ext cx="438912" cy="365760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96112" y="4572000"/>
            <a:ext cx="4800600" cy="8412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4736592"/>
            <a:ext cx="4443984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BF5A24"/>
                </a:solidFill>
                <a:latin typeface="Aptos"/>
              </a:rPr>
              <a:t>Message clé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" y="4974336"/>
            <a:ext cx="444398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215472"/>
                </a:solidFill>
                <a:latin typeface="Aptos"/>
              </a:rPr>
              <a:t>Le gain visible n’est pas dans la couche modèle seule.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4572000"/>
            <a:ext cx="5285232" cy="841248"/>
          </a:xfrm>
          <a:prstGeom prst="roundRect">
            <a:avLst/>
          </a:prstGeom>
          <a:solidFill>
            <a:srgbClr val="F9F3E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9632" y="4736592"/>
            <a:ext cx="486460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BF5A24"/>
                </a:solidFill>
                <a:latin typeface="Aptos"/>
              </a:rPr>
              <a:t>Cas AGILab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2" y="4974336"/>
            <a:ext cx="486460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215472"/>
                </a:solidFill>
                <a:latin typeface="Aptos"/>
              </a:rPr>
              <a:t>AGENTS.md + skills + scripts renforcent surtout la couche agent.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3. La montée réelle de productivité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Même modèle. Trois niveaux de valeur très différents.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13232" y="2816352"/>
            <a:ext cx="3063240" cy="1554480"/>
          </a:xfrm>
          <a:prstGeom prst="roundRect">
            <a:avLst/>
          </a:prstGeom>
          <a:solidFill>
            <a:srgbClr val="F4F0EB"/>
          </a:solidFill>
          <a:ln w="15240">
            <a:solidFill>
              <a:srgbClr val="F4F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03320" y="2249424"/>
            <a:ext cx="3291840" cy="2121408"/>
          </a:xfrm>
          <a:prstGeom prst="roundRect">
            <a:avLst/>
          </a:prstGeom>
          <a:solidFill>
            <a:srgbClr val="F2EBE3"/>
          </a:solidFill>
          <a:ln w="15240">
            <a:solidFill>
              <a:srgbClr val="F2E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39712" y="1627632"/>
            <a:ext cx="3767328" cy="2743200"/>
          </a:xfrm>
          <a:prstGeom prst="roundRect">
            <a:avLst/>
          </a:prstGeom>
          <a:solidFill>
            <a:srgbClr val="EFE3D6"/>
          </a:solidFill>
          <a:ln w="15240">
            <a:solidFill>
              <a:srgbClr val="EFE3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2066543"/>
            <a:ext cx="2697480" cy="23042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88136" y="2231135"/>
            <a:ext cx="1078992" cy="310896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2258567"/>
            <a:ext cx="10789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5A24"/>
                </a:solidFill>
                <a:latin typeface="Aptos"/>
              </a:rPr>
              <a:t>NIVEAU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" y="2596895"/>
            <a:ext cx="2258568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215472"/>
                </a:solidFill>
                <a:latin typeface="Aptos"/>
              </a:rPr>
              <a:t>Chatbot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3108958"/>
            <a:ext cx="22585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BF5A24"/>
                </a:solidFill>
                <a:latin typeface="Aptos"/>
              </a:rPr>
              <a:t>répond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" y="3383279"/>
            <a:ext cx="21854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E656B"/>
                </a:solidFill>
                <a:latin typeface="Aptos"/>
              </a:rPr>
              <a:t>• copier-coller
• tests manuels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95044" y="4023359"/>
            <a:ext cx="1444752" cy="292608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95044" y="4050791"/>
            <a:ext cx="14447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BF5A24"/>
                </a:solidFill>
                <a:latin typeface="Aptos"/>
              </a:rPr>
              <a:t>GAIN LIMITÉ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77056" y="1700784"/>
            <a:ext cx="2889504" cy="2578608"/>
          </a:xfrm>
          <a:prstGeom prst="roundRect">
            <a:avLst/>
          </a:prstGeom>
          <a:solidFill>
            <a:srgbClr val="FFFAF4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96512" y="1865376"/>
            <a:ext cx="1078992" cy="310896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6512" y="1892808"/>
            <a:ext cx="10789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5A24"/>
                </a:solidFill>
                <a:latin typeface="Aptos"/>
              </a:rPr>
              <a:t>NIVEAU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96512" y="2231136"/>
            <a:ext cx="2450592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215472"/>
                </a:solidFill>
                <a:latin typeface="Aptos"/>
              </a:rPr>
              <a:t>Plugin 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2743199"/>
            <a:ext cx="2450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BF5A24"/>
                </a:solidFill>
                <a:latin typeface="Aptos"/>
              </a:rPr>
              <a:t>édite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3088" y="3054096"/>
            <a:ext cx="23774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E656B"/>
                </a:solidFill>
                <a:latin typeface="Aptos"/>
              </a:rPr>
              <a:t>• contexte local
• itération rapide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99432" y="3913632"/>
            <a:ext cx="1444752" cy="292608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9432" y="3941064"/>
            <a:ext cx="14447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BF5A24"/>
                </a:solidFill>
                <a:latin typeface="Aptos"/>
              </a:rPr>
              <a:t>GAIN MOYEN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50608" y="1298448"/>
            <a:ext cx="3401568" cy="2944368"/>
          </a:xfrm>
          <a:prstGeom prst="roundRect">
            <a:avLst/>
          </a:prstGeom>
          <a:solidFill>
            <a:srgbClr val="FFF8EE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70064" y="1463040"/>
            <a:ext cx="1078992" cy="310896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70064" y="1490472"/>
            <a:ext cx="10789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5A24"/>
                </a:solidFill>
                <a:latin typeface="Aptos"/>
              </a:rPr>
              <a:t>NIVEAU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70064" y="1828800"/>
            <a:ext cx="2962656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215472"/>
                </a:solidFill>
                <a:latin typeface="Aptos"/>
              </a:rPr>
              <a:t>Agent
multi-skill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70064" y="2340863"/>
            <a:ext cx="296265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BF5A24"/>
                </a:solidFill>
                <a:latin typeface="Aptos"/>
              </a:rPr>
              <a:t>orchestre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2670048"/>
            <a:ext cx="2889504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E656B"/>
                </a:solidFill>
                <a:latin typeface="Aptos"/>
              </a:rPr>
              <a:t>• repo + skills
• scripts + vérification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29016" y="3877056"/>
            <a:ext cx="1444752" cy="292608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29016" y="3904488"/>
            <a:ext cx="14447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BF5A24"/>
                </a:solidFill>
                <a:latin typeface="Aptos"/>
              </a:rPr>
              <a:t>GAIN FORT</a:t>
            </a:r>
          </a:p>
        </p:txBody>
      </p:sp>
      <p:sp>
        <p:nvSpPr>
          <p:cNvPr id="32" name="Chevron 31"/>
          <p:cNvSpPr/>
          <p:nvPr/>
        </p:nvSpPr>
        <p:spPr>
          <a:xfrm>
            <a:off x="1371600" y="4663440"/>
            <a:ext cx="9052560" cy="384048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17320" y="5065776"/>
            <a:ext cx="89611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BF5A24"/>
                </a:solidFill>
                <a:latin typeface="Aptos"/>
              </a:rPr>
              <a:t>Plus on retire l’orchestration à l’humain, plus le gain change d’échelle.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4. Pourquoi AGILab est un bon cas d’école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Dans un repo riche, le coût d’orchestration devient visible immédiatement.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2148840"/>
            <a:ext cx="25603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4871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215472"/>
                </a:solidFill>
                <a:latin typeface="Aptos"/>
              </a:rPr>
              <a:t>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3063240"/>
            <a:ext cx="22402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1A1F24"/>
                </a:solidFill>
                <a:latin typeface="Aptos"/>
              </a:rPr>
              <a:t>corriger une page
ou un formulaire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2148840"/>
            <a:ext cx="25603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24871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215472"/>
                </a:solidFill>
                <a:latin typeface="Aptos"/>
              </a:rPr>
              <a:t>Guidage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5112" y="3063240"/>
            <a:ext cx="22402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1A1F24"/>
                </a:solidFill>
                <a:latin typeface="Aptos"/>
              </a:rPr>
              <a:t>prompt + AGENTS.md
+ skills du repo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2148840"/>
            <a:ext cx="25603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24871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215472"/>
                </a:solidFill>
                <a:latin typeface="Aptos"/>
              </a:rPr>
              <a:t>Sortie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2" y="3063240"/>
            <a:ext cx="22402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1A1F24"/>
                </a:solidFill>
                <a:latin typeface="Aptos"/>
              </a:rPr>
              <a:t>patch plus fiable
et validation ciblée</a:t>
            </a:r>
          </a:p>
        </p:txBody>
      </p:sp>
      <p:sp>
        <p:nvSpPr>
          <p:cNvPr id="14" name="Chevron 13"/>
          <p:cNvSpPr/>
          <p:nvPr/>
        </p:nvSpPr>
        <p:spPr>
          <a:xfrm>
            <a:off x="3520440" y="2953512"/>
            <a:ext cx="384048" cy="347472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6812280" y="2953512"/>
            <a:ext cx="384048" cy="347472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4617720"/>
            <a:ext cx="10058400" cy="822960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791456"/>
            <a:ext cx="96012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BF5A24"/>
                </a:solidFill>
                <a:latin typeface="Aptos"/>
              </a:rPr>
              <a:t>AGILab montre bien où un agent apporte de la valeur : il rappelle comment bien travailler dans ce repo.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559552"/>
            <a:ext cx="10058400" cy="640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705856"/>
            <a:ext cx="95097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215472"/>
                </a:solidFill>
                <a:latin typeface="Aptos"/>
              </a:rPr>
              <a:t>Benchmark lisible : PandasWorker = process, PolarsWorker = threads, même workload, exécution rendue explicite.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5. Pourquoi Codex CLI devient performant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Son intérêt : agir avec le bon contexte, pas tout lire ni tout improviser.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4672" y="2331720"/>
            <a:ext cx="2212848" cy="12252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682496" y="1956816"/>
            <a:ext cx="566928" cy="329184"/>
          </a:xfrm>
          <a:prstGeom prst="roundRect">
            <a:avLst/>
          </a:prstGeom>
          <a:solidFill>
            <a:srgbClr val="BF5A24"/>
          </a:solidFill>
          <a:ln w="15240">
            <a:solidFill>
              <a:srgbClr val="BF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82496" y="1984248"/>
            <a:ext cx="566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2770632"/>
            <a:ext cx="202996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A1F24"/>
                </a:solidFill>
                <a:latin typeface="Aptos"/>
              </a:rPr>
              <a:t>métadonnées repo</a:t>
            </a:r>
          </a:p>
        </p:txBody>
      </p:sp>
      <p:sp>
        <p:nvSpPr>
          <p:cNvPr id="9" name="Chevron 8"/>
          <p:cNvSpPr/>
          <p:nvPr/>
        </p:nvSpPr>
        <p:spPr>
          <a:xfrm>
            <a:off x="3172968" y="2816352"/>
            <a:ext cx="310896" cy="219456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47872" y="2331720"/>
            <a:ext cx="2212848" cy="12252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25696" y="1956816"/>
            <a:ext cx="566928" cy="329184"/>
          </a:xfrm>
          <a:prstGeom prst="roundRect">
            <a:avLst/>
          </a:prstGeom>
          <a:solidFill>
            <a:srgbClr val="BF5A24"/>
          </a:solidFill>
          <a:ln w="15240">
            <a:solidFill>
              <a:srgbClr val="BF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5696" y="1984248"/>
            <a:ext cx="566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94176" y="2770632"/>
            <a:ext cx="202996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A1F24"/>
                </a:solidFill>
                <a:latin typeface="Aptos"/>
              </a:rPr>
              <a:t>SKILL.md</a:t>
            </a:r>
          </a:p>
        </p:txBody>
      </p:sp>
      <p:sp>
        <p:nvSpPr>
          <p:cNvPr id="14" name="Chevron 13"/>
          <p:cNvSpPr/>
          <p:nvPr/>
        </p:nvSpPr>
        <p:spPr>
          <a:xfrm>
            <a:off x="5916168" y="2816352"/>
            <a:ext cx="310896" cy="219456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91072" y="2331720"/>
            <a:ext cx="2212848" cy="12252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168896" y="1956816"/>
            <a:ext cx="566928" cy="329184"/>
          </a:xfrm>
          <a:prstGeom prst="roundRect">
            <a:avLst/>
          </a:prstGeom>
          <a:solidFill>
            <a:srgbClr val="BF5A24"/>
          </a:solidFill>
          <a:ln w="15240">
            <a:solidFill>
              <a:srgbClr val="BF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68896" y="1984248"/>
            <a:ext cx="566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2770632"/>
            <a:ext cx="202996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A1F24"/>
                </a:solidFill>
                <a:latin typeface="Aptos"/>
              </a:rPr>
              <a:t>scripts utiles</a:t>
            </a:r>
          </a:p>
        </p:txBody>
      </p:sp>
      <p:sp>
        <p:nvSpPr>
          <p:cNvPr id="19" name="Chevron 18"/>
          <p:cNvSpPr/>
          <p:nvPr/>
        </p:nvSpPr>
        <p:spPr>
          <a:xfrm>
            <a:off x="8659368" y="2816352"/>
            <a:ext cx="310896" cy="219456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34272" y="2331720"/>
            <a:ext cx="2212848" cy="12252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912096" y="1956816"/>
            <a:ext cx="566928" cy="329184"/>
          </a:xfrm>
          <a:prstGeom prst="roundRect">
            <a:avLst/>
          </a:prstGeom>
          <a:solidFill>
            <a:srgbClr val="BF5A24"/>
          </a:solidFill>
          <a:ln w="15240">
            <a:solidFill>
              <a:srgbClr val="BF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12096" y="1984248"/>
            <a:ext cx="566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0576" y="2770632"/>
            <a:ext cx="202996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A1F24"/>
                </a:solidFill>
                <a:latin typeface="Aptos"/>
              </a:rPr>
              <a:t>exécution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" y="4572000"/>
            <a:ext cx="9875520" cy="786384"/>
          </a:xfrm>
          <a:prstGeom prst="roundRect">
            <a:avLst/>
          </a:prstGeom>
          <a:solidFill>
            <a:srgbClr val="F4ECE0"/>
          </a:solidFill>
          <a:ln w="15240">
            <a:solidFill>
              <a:srgbClr val="F4E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5880" y="4818888"/>
            <a:ext cx="93268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BF5A24"/>
                </a:solidFill>
                <a:latin typeface="Aptos"/>
              </a:rPr>
              <a:t>Progressive disclosure : Codex n’ouvre que ce qui est utile, au moment utile.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6. Ce qu’un skill apporte vraiment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Le skill transforme une tâche vague en workflow reproductible.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2084831"/>
            <a:ext cx="3063240" cy="2606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395728"/>
            <a:ext cx="2697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BF5A24"/>
                </a:solidFill>
                <a:latin typeface="Aptos"/>
              </a:rPr>
              <a:t>scripts/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8488" y="2852928"/>
            <a:ext cx="1463040" cy="365760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8488" y="288036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BF5A24"/>
                </a:solidFill>
                <a:latin typeface="Aptos"/>
              </a:rPr>
              <a:t>exécute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456432"/>
            <a:ext cx="2514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E656B"/>
                </a:solidFill>
                <a:latin typeface="Aptos"/>
              </a:rPr>
              <a:t>CLI déterministe
run_eval.py
collect_metrics.py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084831"/>
            <a:ext cx="3063240" cy="2606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395728"/>
            <a:ext cx="2697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BF5A24"/>
                </a:solidFill>
                <a:latin typeface="Aptos"/>
              </a:rPr>
              <a:t>references/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0" y="2852928"/>
            <a:ext cx="1463040" cy="365760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288036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BF5A24"/>
                </a:solidFill>
                <a:latin typeface="Aptos"/>
              </a:rPr>
              <a:t>cadre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3456432"/>
            <a:ext cx="2514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E656B"/>
                </a:solidFill>
                <a:latin typeface="Aptos"/>
              </a:rPr>
              <a:t>protocoles
checklists
métriques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11312" y="2084831"/>
            <a:ext cx="3063240" cy="2606040"/>
          </a:xfrm>
          <a:prstGeom prst="roundRect">
            <a:avLst/>
          </a:prstGeom>
          <a:solidFill>
            <a:srgbClr val="F9F3E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2395728"/>
            <a:ext cx="2697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BF5A24"/>
                </a:solidFill>
                <a:latin typeface="Aptos"/>
              </a:rPr>
              <a:t>assets/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88552" y="2852928"/>
            <a:ext cx="1463040" cy="365760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88552" y="288036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BF5A24"/>
                </a:solidFill>
                <a:latin typeface="Aptos"/>
              </a:rPr>
              <a:t>fournit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632" y="3456432"/>
            <a:ext cx="2514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E656B"/>
                </a:solidFill>
                <a:latin typeface="Aptos"/>
              </a:rPr>
              <a:t>templates
exemples d’input
ressources locales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7. Pourquoi Codex ne met pas les skills à jour tout seul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Plus d’autonomie ne veut pas dire réécriture silencieuse du repo.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057400"/>
            <a:ext cx="4572000" cy="2468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88720" y="2331720"/>
            <a:ext cx="1554480" cy="384048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359152"/>
            <a:ext cx="1554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BF5A24"/>
                </a:solidFill>
                <a:latin typeface="Aptos"/>
              </a:rPr>
              <a:t>AUTONOMIE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880360"/>
            <a:ext cx="3931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1">
                <a:solidFill>
                  <a:srgbClr val="215472"/>
                </a:solidFill>
                <a:latin typeface="Aptos"/>
              </a:rPr>
              <a:t>oui pour lire,
choisir, lancer et vérifier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9400" y="2057400"/>
            <a:ext cx="4572000" cy="2468880"/>
          </a:xfrm>
          <a:prstGeom prst="roundRect">
            <a:avLst/>
          </a:prstGeom>
          <a:solidFill>
            <a:srgbClr val="F9F3E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931152" y="2331720"/>
            <a:ext cx="2148840" cy="384048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31152" y="2359152"/>
            <a:ext cx="2148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BF5A24"/>
                </a:solidFill>
                <a:latin typeface="Aptos"/>
              </a:rPr>
              <a:t>RÉÉCRITURE SILENCIEUSE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2880360"/>
            <a:ext cx="39776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1">
                <a:solidFill>
                  <a:srgbClr val="215472"/>
                </a:solidFill>
                <a:latin typeface="Aptos"/>
              </a:rPr>
              <a:t>non pour modifier seul
les règles du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956048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E656B"/>
                </a:solidFill>
                <a:latin typeface="Aptos"/>
              </a:rPr>
              <a:t>Pourquoi : pas de dérive silencieuse, pas de surprise côté repo, amélioration volontaire.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8. Code Companion V3 vs Codex CLI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Le plugin fait gagner du temps dans l’IDE. L’agent fait gagner des étapes de travail.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1920240"/>
            <a:ext cx="4709160" cy="3063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04288"/>
            <a:ext cx="4160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15472"/>
                </a:solidFill>
                <a:latin typeface="Aptos"/>
              </a:rPr>
              <a:t>Code Companion V3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97480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A1F24"/>
                </a:solidFill>
                <a:latin typeface="Aptos"/>
              </a:rPr>
              <a:t>assistant IDE sécurisé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324612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5E656B"/>
                </a:solidFill>
                <a:latin typeface="Aptos"/>
              </a:rPr>
              <a:t>• édition locale rapide
• bon pour itérer
• l’humain orchestre encore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20240"/>
            <a:ext cx="4709160" cy="3063240"/>
          </a:xfrm>
          <a:prstGeom prst="roundRect">
            <a:avLst/>
          </a:prstGeom>
          <a:solidFill>
            <a:srgbClr val="F9F3E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2304288"/>
            <a:ext cx="4160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BF5A24"/>
                </a:solidFill>
                <a:latin typeface="Aptos"/>
              </a:rPr>
              <a:t>Codex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697480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A1F24"/>
                </a:solidFill>
                <a:latin typeface="Aptos"/>
              </a:rPr>
              <a:t>agent terminal orienté repo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24612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5E656B"/>
                </a:solidFill>
                <a:latin typeface="Aptos"/>
              </a:rPr>
              <a:t>• analyse plusieurs fichiers
• lance scripts et vérifications
• enchaîne le workflow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4892040"/>
            <a:ext cx="8549640" cy="658368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5120640"/>
            <a:ext cx="818387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215472"/>
                </a:solidFill>
                <a:latin typeface="Aptos"/>
              </a:rPr>
              <a:t>Le plugin fait gagner du temps. L’agent fait gagner des étapes de travail.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9. Quand utiliser quoi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Même équipe, mêmes modèles, mais pas le même niveau d’orchestration.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148840"/>
            <a:ext cx="4206240" cy="2651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86600" y="2148840"/>
            <a:ext cx="4206240" cy="2651760"/>
          </a:xfrm>
          <a:prstGeom prst="roundRect">
            <a:avLst/>
          </a:prstGeom>
          <a:solidFill>
            <a:srgbClr val="F9F3E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542032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15472"/>
                </a:solidFill>
                <a:latin typeface="Aptos"/>
              </a:rPr>
              <a:t>Code Companion V3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546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1A1F24"/>
                </a:solidFill>
                <a:latin typeface="Aptos"/>
              </a:rPr>
              <a:t>question locale
édition rapide
itération dans l’IDE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42631" y="2542032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BF5A24"/>
                </a:solidFill>
                <a:latin typeface="Aptos"/>
              </a:rPr>
              <a:t>Codex CLI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31546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1A1F24"/>
                </a:solidFill>
                <a:latin typeface="Aptos"/>
              </a:rPr>
              <a:t>workflow complet
tâche longue
validation et enchaînement</a:t>
            </a:r>
          </a:p>
        </p:txBody>
      </p:sp>
      <p:sp>
        <p:nvSpPr>
          <p:cNvPr id="11" name="Chevron 10"/>
          <p:cNvSpPr/>
          <p:nvPr/>
        </p:nvSpPr>
        <p:spPr>
          <a:xfrm>
            <a:off x="5394960" y="3063240"/>
            <a:ext cx="1325880" cy="713232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94944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10. À retenir</a:t>
            </a:r>
          </a:p>
        </p:txBody>
      </p:sp>
      <p:sp>
        <p:nvSpPr>
          <p:cNvPr id="3" name="Rectangle 2"/>
          <p:cNvSpPr/>
          <p:nvPr/>
        </p:nvSpPr>
        <p:spPr>
          <a:xfrm>
            <a:off x="749808" y="1627632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1828800"/>
            <a:ext cx="10378440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38528"/>
            <a:ext cx="9784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17222D"/>
                </a:solidFill>
                <a:latin typeface="Aptos"/>
              </a:rPr>
              <a:t>Le vrai levier de productivité n’est pas le modèle seul.
C’est l’orchestration du travail.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675887"/>
            <a:ext cx="3154680" cy="1554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91363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BF5A24"/>
                </a:solidFill>
                <a:latin typeface="Aptos"/>
              </a:rPr>
              <a:t>Prompt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370832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1A1F24"/>
                </a:solidFill>
                <a:latin typeface="Aptos"/>
              </a:rPr>
              <a:t>cadre modèle, contexte
et sortie attendue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3675887"/>
            <a:ext cx="3154680" cy="1554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391363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BF5A24"/>
                </a:solidFill>
                <a:latin typeface="Aptos"/>
              </a:rPr>
              <a:t>Plugin 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4370832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1A1F24"/>
                </a:solidFill>
                <a:latin typeface="Aptos"/>
              </a:rPr>
              <a:t>accélère l’édition
et l’itération locale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19" y="3675887"/>
            <a:ext cx="3154680" cy="1554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0999" y="391363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BF5A24"/>
                </a:solidFill>
                <a:latin typeface="Aptos"/>
              </a:rPr>
              <a:t>Agent multi-skill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0999" y="4370832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1A1F24"/>
                </a:solidFill>
                <a:latin typeface="Aptos"/>
              </a:rPr>
              <a:t>enchaîne workflow,
scripts et vérification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